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41382b708418d" /><Relationship Type="http://schemas.openxmlformats.org/officeDocument/2006/relationships/extended-properties" Target="/docProps/app.xml" Id="R734793915a494d25" /><Relationship Type="http://schemas.openxmlformats.org/officeDocument/2006/relationships/officeDocument" Target="/ppt/presentation.xml" Id="R090cb9fcc913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fdf8e000d4429c"/>
  </p:sldMasterIdLst>
  <p:notesMasterIdLst>
    <p:notesMasterId xmlns:r="http://schemas.openxmlformats.org/officeDocument/2006/relationships" r:id="R6883350c001c4cc7"/>
  </p:notesMasterIdLst>
  <p:sldIdLst>
    <p:sldId xmlns:r="http://schemas.openxmlformats.org/officeDocument/2006/relationships" id="256" r:id="Re92ce6e5be674fe6"/>
    <p:sldId xmlns:r="http://schemas.openxmlformats.org/officeDocument/2006/relationships" id="257" r:id="R65076fec9c1044b8"/>
    <p:sldId xmlns:r="http://schemas.openxmlformats.org/officeDocument/2006/relationships" id="258" r:id="R7e9182a8954e4720"/>
    <p:sldId xmlns:r="http://schemas.openxmlformats.org/officeDocument/2006/relationships" id="259" r:id="R6708810282f84d01"/>
    <p:sldId xmlns:r="http://schemas.openxmlformats.org/officeDocument/2006/relationships" id="260" r:id="R8dca84d772e3499f"/>
    <p:sldId xmlns:r="http://schemas.openxmlformats.org/officeDocument/2006/relationships" id="261" r:id="Re5c0d48948fc4c1f"/>
    <p:sldId xmlns:r="http://schemas.openxmlformats.org/officeDocument/2006/relationships" id="262" r:id="R77c22fe0cfd24dfb"/>
    <p:sldId xmlns:r="http://schemas.openxmlformats.org/officeDocument/2006/relationships" id="263" r:id="R0d98e9df4c9a44d2"/>
    <p:sldId xmlns:r="http://schemas.openxmlformats.org/officeDocument/2006/relationships" id="264" r:id="R0014732f4bad41c2"/>
    <p:sldId xmlns:r="http://schemas.openxmlformats.org/officeDocument/2006/relationships" id="265" r:id="Re69431ac18fd4a8e"/>
    <p:sldId xmlns:r="http://schemas.openxmlformats.org/officeDocument/2006/relationships" id="266" r:id="R5c0d9e39a50f4110"/>
    <p:sldId xmlns:r="http://schemas.openxmlformats.org/officeDocument/2006/relationships" id="267" r:id="R60d182aa46204e49"/>
    <p:sldId xmlns:r="http://schemas.openxmlformats.org/officeDocument/2006/relationships" id="268" r:id="R105e34c3403c4fe2"/>
    <p:sldId xmlns:r="http://schemas.openxmlformats.org/officeDocument/2006/relationships" id="269" r:id="R8d1e019925084b44"/>
    <p:sldId xmlns:r="http://schemas.openxmlformats.org/officeDocument/2006/relationships" id="270" r:id="Re4c8d4ba19f14be1"/>
    <p:sldId xmlns:r="http://schemas.openxmlformats.org/officeDocument/2006/relationships" id="271" r:id="R0a3e5e96a2594bc0"/>
    <p:sldId xmlns:r="http://schemas.openxmlformats.org/officeDocument/2006/relationships" id="272" r:id="Re69f79e732934a10"/>
    <p:sldId xmlns:r="http://schemas.openxmlformats.org/officeDocument/2006/relationships" id="273" r:id="Rdb67b1d4d9274fea"/>
    <p:sldId xmlns:r="http://schemas.openxmlformats.org/officeDocument/2006/relationships" id="274" r:id="Rb1576f60159a4911"/>
    <p:sldId xmlns:r="http://schemas.openxmlformats.org/officeDocument/2006/relationships" id="275" r:id="R3f59c9981e334b91"/>
    <p:sldId xmlns:r="http://schemas.openxmlformats.org/officeDocument/2006/relationships" id="276" r:id="R94432a8f15384f5e"/>
    <p:sldId xmlns:r="http://schemas.openxmlformats.org/officeDocument/2006/relationships" id="277" r:id="Rb7500ee0530849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e471151a14d35" /><Relationship Type="http://schemas.openxmlformats.org/officeDocument/2006/relationships/slideMaster" Target="/ppt/slideMasters/slideMaster1.xml" Id="R50fdf8e000d4429c" /><Relationship Type="http://schemas.openxmlformats.org/officeDocument/2006/relationships/notesMaster" Target="/ppt/notesMasters/notesMaster1.xml" Id="R6883350c001c4cc7" /><Relationship Type="http://schemas.openxmlformats.org/officeDocument/2006/relationships/presProps" Target="/ppt/presProps.xml" Id="Rc451253ee3d14a3d" /><Relationship Type="http://schemas.openxmlformats.org/officeDocument/2006/relationships/tableStyles" Target="/ppt/tableStyles.xml" Id="R87cb350ed24546c7" /><Relationship Type="http://schemas.openxmlformats.org/officeDocument/2006/relationships/slide" Target="/ppt/slides/slide1.xml" Id="Re92ce6e5be674fe6" /><Relationship Type="http://schemas.openxmlformats.org/officeDocument/2006/relationships/slide" Target="/ppt/slides/slide2.xml" Id="R65076fec9c1044b8" /><Relationship Type="http://schemas.openxmlformats.org/officeDocument/2006/relationships/slide" Target="/ppt/slides/slide3.xml" Id="R7e9182a8954e4720" /><Relationship Type="http://schemas.openxmlformats.org/officeDocument/2006/relationships/slide" Target="/ppt/slides/slide4.xml" Id="R6708810282f84d01" /><Relationship Type="http://schemas.openxmlformats.org/officeDocument/2006/relationships/slide" Target="/ppt/slides/slide5.xml" Id="R8dca84d772e3499f" /><Relationship Type="http://schemas.openxmlformats.org/officeDocument/2006/relationships/slide" Target="/ppt/slides/slide6.xml" Id="Re5c0d48948fc4c1f" /><Relationship Type="http://schemas.openxmlformats.org/officeDocument/2006/relationships/slide" Target="/ppt/slides/slide7.xml" Id="R77c22fe0cfd24dfb" /><Relationship Type="http://schemas.openxmlformats.org/officeDocument/2006/relationships/slide" Target="/ppt/slides/slide8.xml" Id="R0d98e9df4c9a44d2" /><Relationship Type="http://schemas.openxmlformats.org/officeDocument/2006/relationships/slide" Target="/ppt/slides/slide9.xml" Id="R0014732f4bad41c2" /><Relationship Type="http://schemas.openxmlformats.org/officeDocument/2006/relationships/slide" Target="/ppt/slides/slide10.xml" Id="Re69431ac18fd4a8e" /><Relationship Type="http://schemas.openxmlformats.org/officeDocument/2006/relationships/slide" Target="/ppt/slides/slide11.xml" Id="R5c0d9e39a50f4110" /><Relationship Type="http://schemas.openxmlformats.org/officeDocument/2006/relationships/slide" Target="/ppt/slides/slide12.xml" Id="R60d182aa46204e49" /><Relationship Type="http://schemas.openxmlformats.org/officeDocument/2006/relationships/slide" Target="/ppt/slides/slide13.xml" Id="R105e34c3403c4fe2" /><Relationship Type="http://schemas.openxmlformats.org/officeDocument/2006/relationships/slide" Target="/ppt/slides/slide14.xml" Id="R8d1e019925084b44" /><Relationship Type="http://schemas.openxmlformats.org/officeDocument/2006/relationships/slide" Target="/ppt/slides/slide15.xml" Id="Re4c8d4ba19f14be1" /><Relationship Type="http://schemas.openxmlformats.org/officeDocument/2006/relationships/slide" Target="/ppt/slides/slide16.xml" Id="R0a3e5e96a2594bc0" /><Relationship Type="http://schemas.openxmlformats.org/officeDocument/2006/relationships/slide" Target="/ppt/slides/slide17.xml" Id="Re69f79e732934a10" /><Relationship Type="http://schemas.openxmlformats.org/officeDocument/2006/relationships/slide" Target="/ppt/slides/slide18.xml" Id="Rdb67b1d4d9274fea" /><Relationship Type="http://schemas.openxmlformats.org/officeDocument/2006/relationships/slide" Target="/ppt/slides/slide19.xml" Id="Rb1576f60159a4911" /><Relationship Type="http://schemas.openxmlformats.org/officeDocument/2006/relationships/slide" Target="/ppt/slides/slide20.xml" Id="R3f59c9981e334b91" /><Relationship Type="http://schemas.openxmlformats.org/officeDocument/2006/relationships/slide" Target="/ppt/slides/slide21.xml" Id="R94432a8f15384f5e" /><Relationship Type="http://schemas.openxmlformats.org/officeDocument/2006/relationships/slide" Target="/ppt/slides/slide22.xml" Id="Rb7500ee0530849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6b609ebb0545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edb5d684f04074" /><Relationship Type="http://schemas.openxmlformats.org/officeDocument/2006/relationships/notesMaster" Target="/ppt/notesMasters/notesMaster1.xml" Id="R1b2236239f7343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9c2d809f34c84" /><Relationship Type="http://schemas.openxmlformats.org/officeDocument/2006/relationships/notesMaster" Target="/ppt/notesMasters/notesMaster1.xml" Id="Rc39ed54db5c347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0946485d174675" /><Relationship Type="http://schemas.openxmlformats.org/officeDocument/2006/relationships/notesMaster" Target="/ppt/notesMasters/notesMaster1.xml" Id="Rdf5aa11727a5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53910d34d84512" /><Relationship Type="http://schemas.openxmlformats.org/officeDocument/2006/relationships/notesMaster" Target="/ppt/notesMasters/notesMaster1.xml" Id="R90a58f5317b246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c4f6d6353a4f64" /><Relationship Type="http://schemas.openxmlformats.org/officeDocument/2006/relationships/notesMaster" Target="/ppt/notesMasters/notesMaster1.xml" Id="R2da90f82d89d4d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ab59070024b39" /><Relationship Type="http://schemas.openxmlformats.org/officeDocument/2006/relationships/notesMaster" Target="/ppt/notesMasters/notesMaster1.xml" Id="Rcd19acaffbf346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74cba566c42b2" /><Relationship Type="http://schemas.openxmlformats.org/officeDocument/2006/relationships/notesMaster" Target="/ppt/notesMasters/notesMaster1.xml" Id="R6a4b21666bf54f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cd703f7b944309" /><Relationship Type="http://schemas.openxmlformats.org/officeDocument/2006/relationships/notesMaster" Target="/ppt/notesMasters/notesMaster1.xml" Id="R9a6b4cae356a42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513d78019940d0" /><Relationship Type="http://schemas.openxmlformats.org/officeDocument/2006/relationships/notesMaster" Target="/ppt/notesMasters/notesMaster1.xml" Id="Rb71bb65bd9ef41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d11515c3484a5f" /><Relationship Type="http://schemas.openxmlformats.org/officeDocument/2006/relationships/notesMaster" Target="/ppt/notesMasters/notesMaster1.xml" Id="Rd345168fe67449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c2c96647b942ca" /><Relationship Type="http://schemas.openxmlformats.org/officeDocument/2006/relationships/notesMaster" Target="/ppt/notesMasters/notesMaster1.xml" Id="R8485d41384a84d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351f2918ce4a06" /><Relationship Type="http://schemas.openxmlformats.org/officeDocument/2006/relationships/notesMaster" Target="/ppt/notesMasters/notesMaster1.xml" Id="R90ddcda8100e4a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2bedf5a19b4c37" /><Relationship Type="http://schemas.openxmlformats.org/officeDocument/2006/relationships/notesMaster" Target="/ppt/notesMasters/notesMaster1.xml" Id="R871a7224a4b240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5502c9af2c46ce" /><Relationship Type="http://schemas.openxmlformats.org/officeDocument/2006/relationships/notesMaster" Target="/ppt/notesMasters/notesMaster1.xml" Id="R9cedce72352540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43d896d48746f9" /><Relationship Type="http://schemas.openxmlformats.org/officeDocument/2006/relationships/notesMaster" Target="/ppt/notesMasters/notesMaster1.xml" Id="R12e3d336e7394e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723529a0be4ec8" /><Relationship Type="http://schemas.openxmlformats.org/officeDocument/2006/relationships/notesMaster" Target="/ppt/notesMasters/notesMaster1.xml" Id="R6680853701a44b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d2b498856446ea" /><Relationship Type="http://schemas.openxmlformats.org/officeDocument/2006/relationships/notesMaster" Target="/ppt/notesMasters/notesMaster1.xml" Id="R6f15cca2d01c48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3d28543075409f" /><Relationship Type="http://schemas.openxmlformats.org/officeDocument/2006/relationships/notesMaster" Target="/ppt/notesMasters/notesMaster1.xml" Id="Rbfd982f6370741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361a94f4db446b" /><Relationship Type="http://schemas.openxmlformats.org/officeDocument/2006/relationships/notesMaster" Target="/ppt/notesMasters/notesMaster1.xml" Id="Rf74c305b16f04e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166765dd914097" /><Relationship Type="http://schemas.openxmlformats.org/officeDocument/2006/relationships/notesMaster" Target="/ppt/notesMasters/notesMaster1.xml" Id="Rc18de63895d443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34ffd61a0044d2" /><Relationship Type="http://schemas.openxmlformats.org/officeDocument/2006/relationships/notesMaster" Target="/ppt/notesMasters/notesMaster1.xml" Id="Rf68ed0e1a4bd49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9f3ab300f74a9b" /><Relationship Type="http://schemas.openxmlformats.org/officeDocument/2006/relationships/notesMaster" Target="/ppt/notesMasters/notesMaster1.xml" Id="R54a05a953efc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API_SPEC.md</a:t>
            </a:r>
          </a:p>
          <a:p xmlns:a="http://schemas.openxmlformats.org/drawingml/2006/main">
            <a:r>
              <a:t>- repository source snapshot (2026-08-14)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engine/loaders/_internal/clickhouse_factors.py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api/mcp.py</a:t>
            </a:r>
          </a:p>
          <a:p xmlns:a="http://schemas.openxmlformats.org/drawingml/2006/main">
            <a:r>
              <a:t>- tests/test_*.py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README.md#엔진-구조</a:t>
            </a:r>
          </a:p>
          <a:p xmlns:a="http://schemas.openxmlformats.org/drawingml/2006/main">
            <a:r>
              <a:t>- engine/</a:t>
            </a:r>
          </a:p>
          <a:p xmlns:a="http://schemas.openxmlformats.org/drawingml/2006/main">
            <a:r>
              <a:t>- api/</a:t>
            </a:r>
          </a:p>
          <a:p xmlns:a="http://schemas.openxmlformats.org/drawingml/2006/main">
            <a:r>
              <a:t>- data-lake/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scripts/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README.md#데이터-레이크-구조</a:t>
            </a:r>
          </a:p>
          <a:p xmlns:a="http://schemas.openxmlformats.org/drawingml/2006/main">
            <a:r>
              <a:t>- README.md#ELT-흐름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api/mcp.py</a:t>
            </a:r>
          </a:p>
          <a:p xmlns:a="http://schemas.openxmlformats.org/drawingml/2006/main">
            <a:r>
              <a:t>- data-lake/meta/sql/clickhouse_schema.sql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README.md#엔진-구조</a:t>
            </a:r>
          </a:p>
          <a:p xmlns:a="http://schemas.openxmlformats.org/drawingml/2006/main">
            <a:r>
              <a:t>- engine/core/</a:t>
            </a:r>
          </a:p>
          <a:p xmlns:a="http://schemas.openxmlformats.org/drawingml/2006/main">
            <a:r>
              <a:t>- engine/markets/</a:t>
            </a:r>
          </a:p>
          <a:p xmlns:a="http://schemas.openxmlformats.org/drawingml/2006/main">
            <a:r>
              <a:t>- engine/extractors/</a:t>
            </a:r>
          </a:p>
          <a:p xmlns:a="http://schemas.openxmlformats.org/drawingml/2006/main">
            <a:r>
              <a:t>- engine/transformers/</a:t>
            </a:r>
          </a:p>
          <a:p xmlns:a="http://schemas.openxmlformats.org/drawingml/2006/main">
            <a:r>
              <a:t>- engine/loaders/</a:t>
            </a:r>
          </a:p>
          <a:p xmlns:a="http://schemas.openxmlformats.org/drawingml/2006/main">
            <a:r>
              <a:t>- engine/workflows/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engine/markets/kr/config.py</a:t>
            </a:r>
          </a:p>
          <a:p xmlns:a="http://schemas.openxmlformats.org/drawingml/2006/main">
            <a:r>
              <a:t>- engine/markets/us/config.py</a:t>
            </a:r>
          </a:p>
          <a:p xmlns:a="http://schemas.openxmlformats.org/drawingml/2006/main">
            <a:r>
              <a:t>- engine/extractors/</a:t>
            </a:r>
          </a:p>
          <a:p xmlns:a="http://schemas.openxmlformats.org/drawingml/2006/main">
            <a:r>
              <a:t>- data-lake/meta/rules/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README.md#원천-데이터-보존</a:t>
            </a:r>
          </a:p>
          <a:p xmlns:a="http://schemas.openxmlformats.org/drawingml/2006/main">
            <a:r>
              <a:t>- engine/core/paths.py</a:t>
            </a:r>
          </a:p>
          <a:p xmlns:a="http://schemas.openxmlformats.org/drawingml/2006/main">
            <a:r>
              <a:t>- data-lake/</a:t>
            </a:r>
          </a:p>
          <a:p xmlns:a="http://schemas.openxmlformats.org/drawingml/2006/main">
            <a:r>
              <a:t>- data-lake/meta/sql/clickhouse_schema.sql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data-lake/bronze/dart/finance-statement/005930/finance_statement_(2025.12).html</a:t>
            </a:r>
          </a:p>
          <a:p xmlns:a="http://schemas.openxmlformats.org/drawingml/2006/main">
            <a:r>
              <a:t>- tmp/arcana_architecture_detail_build/normalized_example/kr_normalized_005930_2025.12.csv</a:t>
            </a:r>
          </a:p>
          <a:p xmlns:a="http://schemas.openxmlformats.org/drawingml/2006/main">
            <a:r>
              <a:t>- tmp/arcana_architecture_detail_build/validation_example/kr_normalized_005930_2025.12.validation.md</a:t>
            </a:r>
          </a:p>
          <a:p xmlns:a="http://schemas.openxmlformats.org/drawingml/2006/main">
            <a:r>
              <a:t>- engine/transformers/_internal/dart_filings.py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engine/transformers/_internal/dart_filings.py: statement discovery, parse_amount, unit parsing, row structure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engine/transformers/_internal/dart_filings.py: normalize_account_name, indent parsing</a:t>
            </a:r>
          </a:p>
          <a:p xmlns:a="http://schemas.openxmlformats.org/drawingml/2006/main">
            <a:r>
              <a:t>- data-lake/meta/rules/context_kr.yaml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data-lake/meta/rules/kr_mapping.yaml</a:t>
            </a:r>
          </a:p>
          <a:p xmlns:a="http://schemas.openxmlformats.org/drawingml/2006/main">
            <a:r>
              <a:t>- data-lake/meta/rules/mapping_kr.yaml</a:t>
            </a:r>
          </a:p>
          <a:p xmlns:a="http://schemas.openxmlformats.org/drawingml/2006/main">
            <a:r>
              <a:t>- data-lake/meta/rules/mapping_common.yaml</a:t>
            </a:r>
          </a:p>
          <a:p xmlns:a="http://schemas.openxmlformats.org/drawingml/2006/main">
            <a:r>
              <a:t>- engine/transformers/_internal/dart_filings.py: RuleEngine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data-lake/meta/rules/sign_policy.yaml</a:t>
            </a:r>
          </a:p>
          <a:p xmlns:a="http://schemas.openxmlformats.org/drawingml/2006/main">
            <a:r>
              <a:t>- engine/transformers/_internal/dart_filings.py: SignPolicy and postprocessing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data-lake/meta/rules/common_validation.yaml</a:t>
            </a:r>
          </a:p>
          <a:p xmlns:a="http://schemas.openxmlformats.org/drawingml/2006/main">
            <a:r>
              <a:t>- engine/normalization_validator.py</a:t>
            </a:r>
          </a:p>
          <a:p xmlns:a="http://schemas.openxmlformats.org/drawingml/2006/main">
            <a:r>
              <a:t>- tmp/arcana_architecture_detail_build/validation_example/kr_normalized_005930_2025.12.validation.md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data-lake/meta/CanonicalAccount.csv</a:t>
            </a:r>
          </a:p>
          <a:p xmlns:a="http://schemas.openxmlformats.org/drawingml/2006/main">
            <a:r>
              <a:t>- data-lake/meta/rules/context_kr.yaml</a:t>
            </a:r>
          </a:p>
          <a:p xmlns:a="http://schemas.openxmlformats.org/drawingml/2006/main">
            <a:r>
              <a:t>- data-lake/meta/rules/us_mapping.yaml</a:t>
            </a:r>
          </a:p>
          <a:p xmlns:a="http://schemas.openxmlformats.org/drawingml/2006/main">
            <a:r>
              <a:t>- engine/transformers/_internal/dart_filings.py</a:t>
            </a:r>
          </a:p>
          <a:p xmlns:a="http://schemas.openxmlformats.org/drawingml/2006/main">
            <a:r>
              <a:t>- engine/transformers/_internal/sec_filings.py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runtime capture: http://127.0.0.1:8765/docs (2026-08-14)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api/controller/financials_controller.py</a:t>
            </a:r>
          </a:p>
          <a:p xmlns:a="http://schemas.openxmlformats.org/drawingml/2006/main">
            <a:r>
              <a:t>- api/service/financials_service.py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README.md#통합-최신-데이터-갱신</a:t>
            </a:r>
          </a:p>
          <a:p xmlns:a="http://schemas.openxmlformats.org/drawingml/2006/main">
            <a:r>
              <a:t>- engine/workflows/_internal/refresh_workflow.py</a:t>
            </a:r>
          </a:p>
          <a:p xmlns:a="http://schemas.openxmlformats.org/drawingml/2006/main">
            <a:r>
              <a:t>- engine/core/source_storage.py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API_SPEC.md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api/mcp.py</a:t>
            </a:r>
          </a:p>
          <a:p xmlns:a="http://schemas.openxmlformats.org/drawingml/2006/main">
            <a:r>
              <a:t>- api/controller/</a:t>
            </a:r>
          </a:p>
          <a:p xmlns:a="http://schemas.openxmlformats.org/drawingml/2006/main">
            <a:r>
              <a:t>- api/service/</a:t>
            </a:r>
          </a:p>
          <a:p xmlns:a="http://schemas.openxmlformats.org/drawingml/2006/main">
            <a:r>
              <a:t>- api/repository/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API_SPEC.md#REST-API-명세</a:t>
            </a:r>
          </a:p>
          <a:p xmlns:a="http://schemas.openxmlformats.org/drawingml/2006/main">
            <a:r>
              <a:t>- api/controller/</a:t>
            </a:r>
          </a:p>
          <a:p xmlns:a="http://schemas.openxmlformats.org/drawingml/2006/main">
            <a:r>
              <a:t>- api/service/</a:t>
            </a:r>
          </a:p>
          <a:p xmlns:a="http://schemas.openxmlformats.org/drawingml/2006/main">
            <a:r>
              <a:t>- engine/transformers/_internal/factor_metrics.py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engine/loaders/_internal/clickhouse_factors.py</a:t>
            </a:r>
          </a:p>
          <a:p xmlns:a="http://schemas.openxmlformats.org/drawingml/2006/main">
            <a:r>
              <a:t>- engine/transformers/_internal/factor_metrics.py</a:t>
            </a:r>
          </a:p>
          <a:p xmlns:a="http://schemas.openxmlformats.org/drawingml/2006/main">
            <a:r>
              <a:t>- engine/transformers/_internal/style_score_definitions.py</a:t>
            </a:r>
          </a:p>
          <a:p xmlns:a="http://schemas.openxmlformats.org/drawingml/2006/main">
            <a:r>
              <a:t>- data-lake/meta/sql/clickhouse_schema.sql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api/service/factor_lab_service.py</a:t>
            </a:r>
          </a:p>
          <a:p xmlns:a="http://schemas.openxmlformats.org/drawingml/2006/main">
            <a:r>
              <a:t>- api/repository/factor_lab_query.py</a:t>
            </a:r>
          </a:p>
          <a:p xmlns:a="http://schemas.openxmlformats.org/drawingml/2006/main">
            <a:r>
              <a:t>- api/service/backtest_service.py</a:t>
            </a:r>
          </a:p>
          <a:p xmlns:a="http://schemas.openxmlformats.org/drawingml/2006/main">
            <a:r>
              <a:t>- api/repository/backtest_query.py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tests/test_*.py</a:t>
            </a:r>
          </a:p>
          <a:p xmlns:a="http://schemas.openxmlformats.org/drawingml/2006/main">
            <a:r>
              <a:t>- engine/</a:t>
            </a:r>
          </a:p>
          <a:p xmlns:a="http://schemas.openxmlformats.org/drawingml/2006/main">
            <a:r>
              <a:t>- api/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Line counts and test-definition counts were measured from the 2026-08-14 source snapshot.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engine/workflows/refresh.py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API_SPEC.md</a:t>
            </a:r>
          </a:p>
          <a:p xmlns:a="http://schemas.openxmlformats.org/drawingml/2006/main">
            <a:r>
              <a:t>-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f4b1683154f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a86b1b73b415f" /><Relationship Type="http://schemas.openxmlformats.org/officeDocument/2006/relationships/slideLayout" Target="/ppt/slideLayouts/slideLayout1.xml" Id="R4e3a687e2ffb44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a687e2ffb44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b8aedc53b4330" /><Relationship Type="http://schemas.openxmlformats.org/officeDocument/2006/relationships/notesSlide" Target="/ppt/notesSlides/notesSlide1.xml" Id="Rdfd7ba103d124b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17015a3464cf6" /><Relationship Type="http://schemas.openxmlformats.org/officeDocument/2006/relationships/notesSlide" Target="/ppt/notesSlides/notesSlide2.xml" Id="R783c016c5f4248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04201cf8e486a" /><Relationship Type="http://schemas.openxmlformats.org/officeDocument/2006/relationships/notesSlide" Target="/ppt/notesSlides/notesSlide3.xml" Id="Rdf5672815b6141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18f1b21d14676" /><Relationship Type="http://schemas.openxmlformats.org/officeDocument/2006/relationships/notesSlide" Target="/ppt/notesSlides/notesSlide4.xml" Id="Rf36b7a470e224c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63b4a6fd84f91" /><Relationship Type="http://schemas.openxmlformats.org/officeDocument/2006/relationships/notesSlide" Target="/ppt/notesSlides/notesSlide5.xml" Id="R2b64fc752e0442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648c65a664dfc" /><Relationship Type="http://schemas.openxmlformats.org/officeDocument/2006/relationships/notesSlide" Target="/ppt/notesSlides/notesSlide6.xml" Id="Recf9944984d445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1ad84607c4941" /><Relationship Type="http://schemas.openxmlformats.org/officeDocument/2006/relationships/notesSlide" Target="/ppt/notesSlides/notesSlide7.xml" Id="R327ea69b9f9343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d68fda38f4a80" /><Relationship Type="http://schemas.openxmlformats.org/officeDocument/2006/relationships/notesSlide" Target="/ppt/notesSlides/notesSlide8.xml" Id="Rde76d386091240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abc6f1245479f" /><Relationship Type="http://schemas.openxmlformats.org/officeDocument/2006/relationships/notesSlide" Target="/ppt/notesSlides/notesSlide9.xml" Id="R79d599efb51549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3994e54e24862" /><Relationship Type="http://schemas.openxmlformats.org/officeDocument/2006/relationships/notesSlide" Target="/ppt/notesSlides/notesSlide10.xml" Id="R3f864e86fce9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5152718264171" /><Relationship Type="http://schemas.openxmlformats.org/officeDocument/2006/relationships/notesSlide" Target="/ppt/notesSlides/notesSlide11.xml" Id="R60dfc768f1c843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1b4f3aac846e5" /><Relationship Type="http://schemas.openxmlformats.org/officeDocument/2006/relationships/notesSlide" Target="/ppt/notesSlides/notesSlide12.xml" Id="Re4aa0cd1484840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ce1372cc74155" /><Relationship Type="http://schemas.openxmlformats.org/officeDocument/2006/relationships/notesSlide" Target="/ppt/notesSlides/notesSlide13.xml" Id="R5760adeca21444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9a00b8a1941d8" /><Relationship Type="http://schemas.openxmlformats.org/officeDocument/2006/relationships/notesSlide" Target="/ppt/notesSlides/notesSlide14.xml" Id="R5f79bdd0a7894a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d0b2233564141" /><Relationship Type="http://schemas.openxmlformats.org/officeDocument/2006/relationships/image" Target="/ppt/media/image.jpeg" Id="R320176d1e4b84480" /><Relationship Type="http://schemas.openxmlformats.org/officeDocument/2006/relationships/notesSlide" Target="/ppt/notesSlides/notesSlide15.xml" Id="R924e8a454f1d47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6cffcb0ce415b" /><Relationship Type="http://schemas.openxmlformats.org/officeDocument/2006/relationships/notesSlide" Target="/ppt/notesSlides/notesSlide16.xml" Id="R3905bab7a62a43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caa18b02240e0" /><Relationship Type="http://schemas.openxmlformats.org/officeDocument/2006/relationships/notesSlide" Target="/ppt/notesSlides/notesSlide17.xml" Id="Rf1e47831cfae4c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936f2321448d8" /><Relationship Type="http://schemas.openxmlformats.org/officeDocument/2006/relationships/notesSlide" Target="/ppt/notesSlides/notesSlide18.xml" Id="R081ee5a4a9f14f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1c6f2d24343c0" /><Relationship Type="http://schemas.openxmlformats.org/officeDocument/2006/relationships/notesSlide" Target="/ppt/notesSlides/notesSlide19.xml" Id="Rab929de859ef4c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8cb2d135d414e" /><Relationship Type="http://schemas.openxmlformats.org/officeDocument/2006/relationships/notesSlide" Target="/ppt/notesSlides/notesSlide20.xml" Id="R7763cd34433d4e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eb2c105994738" /><Relationship Type="http://schemas.openxmlformats.org/officeDocument/2006/relationships/chart" Target="/ppt/slides/charts/chart1.xml" Id="R832250b618064d66" /><Relationship Type="http://schemas.openxmlformats.org/officeDocument/2006/relationships/notesSlide" Target="/ppt/notesSlides/notesSlide21.xml" Id="R223f4699e15b40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3b81a7ceb41b2" /><Relationship Type="http://schemas.openxmlformats.org/officeDocument/2006/relationships/notesSlide" Target="/ppt/notesSlides/notesSlide22.xml" Id="Rd754ea3c7037410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소스 라인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engine</c:v>
              </c:pt>
              <c:pt idx="1">
                <c:v>api</c:v>
              </c:pt>
              <c:pt idx="2">
                <c:v>tests</c:v>
              </c:pt>
            </c:strLit>
          </c:cat>
          <c:val>
            <c:numLit>
              <c:formatCode>General</c:formatCode>
              <c:ptCount val="3"/>
              <c:pt idx="0">
                <c:v>43154</c:v>
              </c:pt>
              <c:pt idx="1">
                <c:v>19536</c:v>
              </c:pt>
              <c:pt idx="2">
                <c:v>19363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8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6BA5C-4496-4ECB-83CE-93097CC5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TECHNICAL OVERVIEW · 2026.08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1F2BB-CFFB-440B-983A-E3584AF5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Arcana 기술 개요</a:t>
            </a:r>
          </a:p>
          <a:p xmlns:a="http://schemas.openxmlformats.org/drawingml/2006/main">
            <a:pPr algn="l">
              <a:defRPr sz="5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구조·아키텍처·주요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768BA-6384-4548-98C7-EDF1253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D3B16-0F1D-4898-85CD-B33844E6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한국과 미국의 금융 데이터를 분석 서비스로 잇는 ELT·퀀트 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D5B18-C9EB-4D83-9515-E6DA6DA2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2026-08-14 저장소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08AFA-ECEF-448E-9345-99D05CE6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5666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8D6DA-C350-49FF-A061-ADC9437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ED516-BA48-45EF-85AB-78F8CFB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데이터 처리와 분석 기능이 한곳에서 만난다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C57CB-62A0-46F6-B2DE-2B999C87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340C7-B8B1-4B8F-ABA7-77144F34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0948A-6441-49CF-992E-5C9C74B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A0D92-2725-409F-A4B4-2C3B3D2B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원천을 보존한 채 변환 과정을 재현할 수 있다. 종목 분석부터 팩터 연구·스크리닝·백테스트까지 같은 데이터 모델을 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1A978-F6E2-427F-BD82-BF96A82C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335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8846B-1E2B-4C58-99F7-6FEFF68C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5D1F3-06A0-421C-A339-803C135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팩터 카탈로그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50BE6-A197-495A-8EC7-58421FA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14개 그룹에 걸친 현재 생성 정의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282AF-9947-45BB-A964-6BFB6FB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335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F3E20-5AE6-4F4A-9C08-AF08EA7E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CB507-876A-44AE-BA0C-F8B6C719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REST 라우트 / MCP 도구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FA3BD-6C22-45D2-9BC9-17268134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FastAPI 라우트를 MCP로 자동 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F4551-3447-423E-9F76-42A3F26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335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62DBA-0B40-4CB5-8D17-EFDE561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580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2C25E-4B47-4CCA-BBCA-AFA4352D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테스트 함수 정의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46695-F7E3-4885-A44B-9B8FAB3F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56개 테스트 파일의 소스 기준 집계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26B6B-3B81-4517-90EF-44F4F93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2026-08-14 작업 트리에서 집계한 정의 수다. 운영 데이터 적재량이나 테스트 통과율과는 무관하다.</a:t>
            </a:r>
          </a:p>
        </p:txBody>
      </p:sp>
    </p:spTree>
    <p:extLst>
      <p:ext uri="{BB962C8B-B14F-4D97-AF65-F5344CB8AC3E}">
        <p14:creationId xmlns:p14="http://schemas.microsoft.com/office/powerpoint/2010/main" val="902704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DD118-F4E1-41FA-B344-D8D182D2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REPOSITORY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0FCD9-B49C-433B-9696-8F03E897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폴더 이름만 봐도 각 영역의 책임이 드러난다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13D7F-666C-449C-B232-8B50D0F2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E3F52-F74C-4946-A6E1-FBB55282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12665-0074-4083-A983-E2279F71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D886D-6229-4948-A828-01AA1CC7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1277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9780B-6772-42CB-B575-F686A659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engine/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F8D95-C431-4FA1-8400-9666ADBD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ELT와 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59416-8A4D-4D70-825A-0CE54E83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core · markets · extractors · transformers · loaders ·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EEB9C-5E20-46DC-B9FE-7EE0E907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B37DE-C96B-43C7-B888-2934FE8B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api/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64883-2F14-4BD5-A83E-6BB30B2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분석 서비스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27C12-AEFC-46EF-9250-ADE41FE6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controller · service · repository · model · config · 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8157F-2ABB-4120-B6D6-B5DEF87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41BA0-4BC3-486A-9179-167D065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1277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0A6EE-E6AC-4416-B74E-246C1684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data-lake/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F1A97-8870-4595-9078-1D1D75AD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파일 데이터 계층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9F379-C995-4601-BF24-532CB341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bronze · silver · gold · meta · source-archive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7915F-AEDC-4459-A910-A724775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36D78-4FC0-4E18-89F2-57023D2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tests/ · scripts/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68EBC-EA41-4D90-917D-8C680773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검증과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5D5B8-AF68-434D-B33F-6446A4C8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단위·통합 테스트와 커버리지·최적화·갱신 스크립트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F7F75-A66E-4325-B560-52FB9DE0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E9A32-6DC7-4E17-82CA-08DD1488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외부 코드는 공개 모듈을 import한다. 구체적인 구현은 _internal 아래에 둔다.</a:t>
            </a:r>
          </a:p>
        </p:txBody>
      </p:sp>
    </p:spTree>
    <p:extLst>
      <p:ext uri="{BB962C8B-B14F-4D97-AF65-F5344CB8AC3E}">
        <p14:creationId xmlns:p14="http://schemas.microsoft.com/office/powerpoint/2010/main" val="562653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7DDF0-51AC-4A7D-975B-BC41BD94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A86DA-6C9E-46CF-A346-D44E5844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데이터는 다섯 단계를 거쳐 분석 응답이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201CF-427F-4113-96C1-A7A11B84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DE1C1-A6FE-45AE-93F2-DDC5081A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84DA8-E6DA-49AE-AF8A-735EEC8E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F67AC-2BF5-4F83-AB4A-DA0B84C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B8F23-D5A9-4DDF-B8F7-D7520B6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03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1D767-2AB3-4A7B-B88F-0E9AF8C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03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829F0-2054-40B3-8E10-1053668C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003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7DC75-6929-44AD-95A8-A6288BF6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D0714-E78A-49AF-B8BD-B2E06117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EF889-E0B8-4D6A-8D48-7DAC4444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외부 원천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40D6B-6CFF-4004-A6BB-EB211FB0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DART · KRX · SEC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yfinance · 컨센서스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FRED · Damodaran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9AB6A-C986-48D7-9395-9B26F4D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31E09-FF2B-4A9A-89A1-CCC741BA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68FB0-965E-467F-B216-CFFA57A9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추출 / Bronze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CB0C-1E4C-43D8-AC26-7B098A8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원문·원시 JSON·CSV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다운로드 검증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source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E9EC9-21F7-47DE-B87C-CC6D3254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5B87-CABE-4CFC-A3AE-B5DDC072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73507-D224-4F22-973E-29B82C49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정규화 / Silver·Gold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2F06E-CB05-466D-996A-5AAED776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계정 매핑·기간화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운영지표·추정치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팩터·스타일 점수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8CB7E-EE2A-4D36-8335-523399AB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7A5E8-6EF1-4F0C-A6A3-6D3A9053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969F6-10BF-4F36-BBC2-0973402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ClickHouse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DBFE9-0A16-4AFD-BAC7-6D9C90E6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증권·가격·재무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컨센서스·팩터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실험·스냅샷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3EF8D-1658-4F89-B4F3-31B02CA2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6D7DB6-1858-4C88-9089-2CE9E7B1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00533-1E6F-4ED0-80F1-A9FC997A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REST / MCP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85E15-377B-4EF5-9732-6B7B929E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FastAPI 48 라우트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라우트에서 만든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MCP 48 도구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C47EA-6C03-41C8-ADC8-CE5C0AF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핵심 경계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C77C2C-98E6-4650-BC36-C63D8E50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파일 계층은 원천과 변환 이력을 남긴다. ClickHouse는 시계열 조회·랭킹·백테스트를 처리하고 API는 분석 규칙을 외부 계약으로 고정한다.</a:t>
            </a:r>
          </a:p>
        </p:txBody>
      </p:sp>
    </p:spTree>
    <p:extLst>
      <p:ext uri="{BB962C8B-B14F-4D97-AF65-F5344CB8AC3E}">
        <p14:creationId xmlns:p14="http://schemas.microsoft.com/office/powerpoint/2010/main" val="27796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4C0E7-5F1D-492F-802C-CFBB348D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ENGINE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2FC5B-F3A3-421E-B596-AE88306B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Engine은 수집·변환·적재·실행 책임을 나눈다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D4FBA-68A2-42DE-8CC1-25D1A1F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53136-CE50-4453-BAE0-4EBDC4C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AC28-B1E7-4B29-A9D2-DF0F1CE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C66D0-9978-4AA1-B309-D25970FE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DA0B2-DB52-49F7-A09D-6F7CE4CE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BE3B0-919E-4A58-8F51-A0DC5480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Core + Markets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551FF-BB89-44C8-AE90-3544D5E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EC6A9-5B7A-4959-8235-DA6B276B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공통 경로·식별자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시장별 심볼·통화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시간대·ClickHouse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EDCE3-B5AA-4821-9857-6A3C2034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A5EB3-52C5-4F57-8744-573663BC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42FD6-7651-49B9-A1F5-ABE09F7A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Extractors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C0227-5351-40ED-A0F6-79F7AFB7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C03AE-C3C8-4213-A460-68C265FC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DART·KRX·SEC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시장가격·컨센서스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공급자별 원천 수집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F671C-964E-4AE0-AF93-DEA5BDF3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BF284-C8DD-43E7-B8E8-DC898798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664B8-0A75-4DC5-B244-DB94BBB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Transformers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FF697-74E3-4AE2-9A7E-AEDBC659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36183-B1EE-489E-9AC5-6315889A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정규화·기간화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팩터·스타일 점수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WACC·RIM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62BD8-BE79-4A4D-878A-6E887B5D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990DB-4A5E-428C-A4FD-DFF98F6E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5E35C-B472-4AE4-853F-8DD533FD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Loaders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3D558-5B75-4CB2-A150-BB44B3AE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362A3-4141-4BFE-B2D8-2996EE61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Silver/Gold 변환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파티션 교체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ClickHouse 증분 적재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A543D-F96D-4F0A-82FB-69D97949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79B5D-84A9-41AF-A7CA-123AC8A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93852-ECA6-4BCF-93E1-CCC5E56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Workflows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1446B-AD03-4E1F-BAA1-F0F15C5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9A806-C14B-4251-AE53-4A89B45D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CLI 단위 실행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시장·대상·기간 관리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재개 상태 추적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EC40F-C8A4-41FB-A4E9-4B9B79E4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외부 코드는 public 모듈만 사용한다. 세부 구현은 _internal에 격리한다.</a:t>
            </a:r>
          </a:p>
        </p:txBody>
      </p:sp>
    </p:spTree>
    <p:extLst>
      <p:ext uri="{BB962C8B-B14F-4D97-AF65-F5344CB8AC3E}">
        <p14:creationId xmlns:p14="http://schemas.microsoft.com/office/powerpoint/2010/main" val="1109788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FDCF8-22B4-4A22-964F-1E176173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MARKET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B743D-743C-4B9C-A535-854B821E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KR과 US의 차이는 수집기와 규칙에서 처리한다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F6371-084D-4643-B17D-872D663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공급자와 식별자, 시간대는 다르다. 정규화를 마치면 두 시장 모두 같은 ELT 계약과 출력 모델을 따른다.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002AC-AD31-4381-9521-5A4E84CB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3534C-4ADB-4A58-A18A-E61F0939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03596-8880-45E6-BFF6-147EBE38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57200" y="2038350"/>
          <a:ext xmlns:a="http://schemas.openxmlformats.org/drawingml/2006/main" cx="112776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638675"/>
                <a:gridCol w="4638675"/>
              </a:tblGrid>
              <a:tr h="5089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시장 (KR)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시장 (US)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공시·재무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 재무제표·주석·사업보고서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companyfacts·filings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데이터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KRX 가격·주식수·벤치마크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yfinance 가격·배당·시장 유니버스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컨센서스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한경 컨센서스·실제 리포트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FMP·Alpha Vantage·Yahoo Finance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리스크 입력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BOK·KR 벤치마크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FRED·Damodaran·S&amp;P 500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 규칙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6자리 코드·KRW·Asia/Seoul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대문자 티커·USD·America/New_York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산출물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Canonical statements · factors · snapshots · style scores · API DTO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Canonical statements · factors · snapshots · style scores · API DTO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106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0CAF68-CD59-43FC-87CB-E1A87D1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DATA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F4345-37BF-4DC0-AB97-D5CA88A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파일은 이력을 남기고 ClickHouse는 계산한다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98F0-D9A0-45EA-9939-52E6F311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04E80-1A8A-4B00-9040-4BA7BE40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70342-E5AB-49C1-AB11-3948BC1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B8DDD-28BB-49D8-9FFB-3FB5F599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5A3FD-45D4-4179-ABF3-4A2424AC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316E1-4711-4EFB-A86A-80A0D00E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A34DC-0002-45EF-BF7F-D03376B1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4C6F7-255C-46F1-9EF8-0E2821B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BRONZE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41310-60BE-42A7-AA0B-BE29BB40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원천 보존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087DA-8E83-44C9-A5F1-A8B6884F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공급자 응답과 원시 파일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7C650-57C2-44A1-BDFC-3AE0B92A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22484-F767-4365-8E77-1BE01DF1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E995C-5E5F-44CC-BEE5-9B27F306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A3430-79C1-4414-9D3B-7ECBC8AE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95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시장·공급자별 표준 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82C63-D58A-40C9-B1D3-18DBFD93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84C33-79A8-42A6-8336-B141CCE5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B26D0-3D20-43F0-BD80-E2D1442A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분석 산출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D41C6-C0C7-4FFE-97CE-3994527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운영지표·추정치·검증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247B6-7661-4321-B775-6AF3E98A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907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3289B-BA90-4690-B050-44FC4B65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CLICKHOUSE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FBC73-AA3A-4E96-A5AE-391F184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서빙·연산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AAE61-76A1-445C-AAFD-9AA11A0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32개 논리 테이블 정의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00D39-70EB-49D6-9760-A86FC29E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27FB4-C11C-43F7-B439-7545F6D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8E038-40E8-4C8E-B077-D01E6ABC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규칙과 스키마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4B7D3-12B5-41C6-8E10-09CB86E6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3371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CanonicalAccount · YAML 매핑·검증 정책 · SQL 스키마 · 실행 상태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68951D-CB12-4969-B0B9-6D40CBA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672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26165-91BE-4955-AA78-0E282535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38650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SOURCE 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1B09F4-A7A9-4824-B30D-D75CD698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43450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원천 변경 이력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B595C-E291-449F-B2CD-9EF90DE2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48300"/>
            <a:ext cx="3371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검증을 마친 이전 원천을 run_id 단위로 보존하고 manifest로 추적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570A2F-0FAA-4715-9438-520E58F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672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113B98-9762-4E8F-BCA3-9FC71111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SERVING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45A78F-6CA2-4E76-AAC2-BA98F8A0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43450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분석 테이블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92E697-E622-4315-9BA9-FA3F482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48300"/>
            <a:ext cx="3371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가격·재무·배당·컨센서스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팩터·스타일·팩터 랩</a:t>
            </a:r>
          </a:p>
        </p:txBody>
      </p:sp>
    </p:spTree>
    <p:extLst>
      <p:ext uri="{BB962C8B-B14F-4D97-AF65-F5344CB8AC3E}">
        <p14:creationId xmlns:p14="http://schemas.microsoft.com/office/powerpoint/2010/main" val="715428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60352-9084-437A-A3A0-47C84A4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NORMALIZATION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61468-CBF9-4150-A7D8-08EAE52B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실제 실행으로 본 정규화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6CEA-3779-4B5A-BAA6-9A68C803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삼성전자 005930 · 2025.12 연결 재무제표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3EDC0-E463-4CD2-A9F7-03FBD65B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E0125-0DDB-420F-B936-964CFE7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B76E2-3B24-4660-BCFD-49531B66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2B240-3476-43E0-8CAF-3DFF02A6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60622-3BA7-46AE-800B-5BB67938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130 → 137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FB728-9BF8-429E-AA81-32F4B8CF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입력 행 → 최종 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472DB-51AE-46E0-9993-C9FBA6E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383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2BA0E-26D3-40FB-BF2E-3AB61F0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68 / 69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170D9-1116-40D0-9F91-BECF123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매핑 / 미매핑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99A0D-DD51-4F6A-AC55-D5F6D18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51C4B-4C38-41C9-9099-66DAE6D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PASS · 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EF624-6916-4872-A613-1005371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검증 판정 / 점수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6078D-B41F-4511-A977-D0D19474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19CE6-8D7C-4EF6-A4EC-E91760EA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9/9 · 24/24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7E1AB-C705-4635-B61B-F2272C17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산식 / 팩터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457200" y="3067050"/>
          <a:ext xmlns:a="http://schemas.openxmlformats.org/drawingml/2006/main" cx="112776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  <a:gridCol w="3143250"/>
                <a:gridCol w="2990850"/>
              </a:tblGrid>
              <a:tr h="304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계정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 계정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값(원)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규칙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매출액 (주30)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333,605,938,000,000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is_revenue</a:t>
                      </a:r>
                    </a:p>
                  </a:txBody>
                  <a:tcPr marL="91440" marR="91440" marT="45720" marB="45720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(주30)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OPERATING_INCOME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43,601,051,000,000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규칙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자산총계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TOTAL_ASSETS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566,942,110,000,000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bs_total_assets</a:t>
                      </a:r>
                    </a:p>
                  </a:txBody>
                  <a:tcPr marL="91440" marR="91440" marT="45720" marB="45720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영업활동현금흐름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CFO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85,315,148,000,000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cf_cfo_plain_subtotal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유형자산의 취득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CAPEX_PPE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47,522,179,000,000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cf_capex_ppe</a:t>
                      </a:r>
                    </a:p>
                  </a:txBody>
                  <a:tcPr marL="91440" marR="91440" marT="45720" marB="45720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기본주당이익 (단위 : 원)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BASIC_EPS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6,605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is_basic_eps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5B7EC-751E-4D82-9EC7-AFF8697E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A0754-3DFF-455E-8049-C2B2720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35F0A-3422-4932-9E8A-DC51DAC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86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미매핑 69건을 곧바로 실패로 보지 않는다. 표 제목·지원하지 않는 세부 계정·오매핑을 막는 가드 행이 함께 남기 때문이다. 합격 여부는 핵심 계정, 산식, 중복, 단위를 묶어서 판정한다.</a:t>
            </a:r>
          </a:p>
        </p:txBody>
      </p:sp>
    </p:spTree>
    <p:extLst>
      <p:ext uri="{BB962C8B-B14F-4D97-AF65-F5344CB8AC3E}">
        <p14:creationId xmlns:p14="http://schemas.microsoft.com/office/powerpoint/2010/main" val="6793516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62857-21B1-4757-B986-5CFC2C5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DART PARSING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52753-A18E-4584-A077-FEBF8341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HTML 표를 행 단위 레코드로 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B3499-CE79-4792-B302-8F78AD5A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E523-0364-4C22-AD3C-48D9BFC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9E672-8AD2-4FF5-8B83-62F01318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508BC-0D1B-4996-B4B3-9D4480A2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590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C8BEB-9B24-46AE-8263-A4F57264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151D3-0AAD-48CC-A66E-6422567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제목 판별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62D9C-5007-4D14-A424-B0FEFFE4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AB36A-D808-4378-B7D4-8B3D913F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p와 비테두리 표에서 제목 탐색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주석·자본변동표 제외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CIS를 IS보다 먼저 판별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AD83B-9468-4AA5-82D2-E9D1D926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90700"/>
            <a:ext cx="2590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54E4C-4987-4DB6-9A94-1097E639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81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7CCEE-B7CF-4CF9-AFE2-CB36EC68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본문 표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2EBE0-CD3C-40B8-A92E-57CAF0AF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ECEE5-E615-48A4-A4B1-1D3EB13A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제목 다음 border=1 표 선택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주변 문구도 단위 판정에 사용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표는 한 번만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E6136-6A20-4E0D-83A5-8F5EAD0C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590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E85EA-0812-4638-B110-79F11809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8223E-F4B5-429B-A018-0117C66D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금액·단위 해석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7390A-C5AF-4BFD-AFED-11A6C717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B96EC-EADF-492F-A8AC-E1E1070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빈칸·대시는 0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괄호·△·▲·−는 음수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EPS는 단위 배수 미적용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AFFA8-93DB-40FE-BE25-659568DB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590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C00E4-28A3-43C2-B5FF-49950D95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81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C4E65-3BA1-4AB3-8E8E-FDB9D78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행 구조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05971-00FD-459D-9D18-FF174FE9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17D2A-44B4-4902-9DC0-77B68A2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원문명·매칭명·금액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들여쓰기·자식 행 여부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재무제표 종류·표 번호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38CF8-17F5-408F-BA29-87DC45A6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18558-B6EE-4646-81F3-69B36D0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파서의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326E1-1668-4C4E-9E4C-F0487D4F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값을 ‘잘 추정하는 것’보다 원문 구조를 잃지 않고 다음 단계에 넘기는 데 가깝다.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8C4AC-7E4A-447C-B68B-5D5216EB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EDF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0EDFA"/>
                </a:solidFill>
                <a:latin typeface="Consolas"/>
                <a:ea typeface="Consolas"/>
                <a:cs typeface="Consolas"/>
              </a:rPr>
              <a:t>출력 필드: original_account_name · normalized_name · statement_type · amount · indent · has_children · table_index</a:t>
            </a:r>
          </a:p>
        </p:txBody>
      </p:sp>
    </p:spTree>
    <p:extLst>
      <p:ext uri="{BB962C8B-B14F-4D97-AF65-F5344CB8AC3E}">
        <p14:creationId xmlns:p14="http://schemas.microsoft.com/office/powerpoint/2010/main" val="1972580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87933-3C6D-4A2F-8919-8ED541BE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MATCHING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5C5EA-C683-4123-9376-22DC3C9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원문은 남기고, 매칭용 이름만 정리한다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B8D7A-B71B-4E06-A37E-EC15D5E7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82C76-829B-4436-BCE6-E9415BD7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080CC-F36C-47BF-95E3-1F556ACA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9D8CA-4499-4107-A996-18A0106A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계정명 변환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57200" y="2038350"/>
          <a:ext xmlns:a="http://schemas.openxmlformats.org/drawingml/2006/main" cx="53340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19075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계정명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매칭용 이름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매출액 (주30)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매출액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Ⅰ. 유동자산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유동자산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기본주당이익 (단위 : 원)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기본주당이익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EA65D-8776-48CD-8806-41E71A4A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문맥 스택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86822-FB9E-4EA1-9769-A1815C9C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486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41997-CDE6-4F0C-91BA-CD79B511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당기순이익의 귀속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77A14-68B4-48EB-88E7-3C8EE6BA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금액 0 · 자식 행 있음 → PUSH_CONTEXT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ACFAD-5D97-4852-898A-4046153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BDED1-82D0-46E6-A4D3-725E025E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└ 지배기업 소유주지분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1F76E-6FBA-4F13-AB49-12BA705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F6872"/>
                </a:solidFill>
                <a:latin typeface="Consolas"/>
                <a:ea typeface="Consolas"/>
                <a:cs typeface="Consolas"/>
              </a:rPr>
              <a:t>parent_context: 당기순이익의귀속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95F16-DAFE-4875-AA66-F4E1B578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4A4F7-8D2E-422D-97C5-23404E6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보존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EAED8-FCFB-4979-998E-AA8E03B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original_account_name은 출력과 추적을 위해 손대지 않는다.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2010E-A437-45FA-895D-8F479234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49CAD-26C4-48AF-B8D5-DE43856F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normalized_name에서만 주석 번호·단위·번호·장식·구분자·합계 접미사를 걷어낸다.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83BCE-54A9-49D0-A003-9FB55129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들여쓰기와 padding-left로 계층을 복원하고, 재무제표와 표가 바뀔 때마다 문맥 스택을 새로 만든다. 단순 합계 행은 문맥으로 올리지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43606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3B1E8-26B2-4D8F-B50A-437FB12F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0DE47-8FDA-4EC2-8B3C-313E87D5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YAML은 우선순위·문맥·구조로 첫 일치를 고른다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CC7EE-A02E-4FE6-BBDB-2C7B43D4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06202-0928-49F5-BE07-EE895EFF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74F0E-51AC-4647-9D34-0018CCB1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490AF-50BC-4B45-B3CC-799D3CB4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47625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B2CF2-B9C8-43FD-B977-EF7ADDF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0EDFA"/>
                </a:solidFill>
                <a:latin typeface="Consolas"/>
                <a:ea typeface="Consolas"/>
                <a:cs typeface="Consolas"/>
              </a:rPr>
              <a:t>cf_capex_ppe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E8090-1132-42F4-A887-A82818A4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3624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- id: cf_capex_ppe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priority: 800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fs_types: [CF]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match: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exact_any: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- 유형자산의취득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- 유형자산취득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target: CAPEX_PPE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amount_policy: abs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cash_direction: outflow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305AA-BFA3-4551-9D0E-B3B67FA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52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선택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AC855-8CF6-4E6E-A7E7-81B73D55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8400C-46EA-40DD-935A-BD5767FE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43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7588A-7C8A-4E08-A465-19FA0A21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우선순위 내림차순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A1707-E786-41D4-A213-FBC087D7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동률이면 파일 로드 순서 유지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EF747-13A9-4218-8D41-A2E26C8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F1184-0C0D-4FE4-BCB4-B4633972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18135-7CBF-4AF5-A9E7-A8BFDA0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이름 조건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83D20-86A3-4BC2-85FC-AFBD021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exact/include 묶음 확인, exclude는 즉시 탈락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EC7B8-1E70-4DA3-AB85-5E99680C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5C23B-6389-4C2E-95F5-24C58A65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05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094D9-EEA7-4060-870E-C09EE8DC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문맥·구조 조건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834BB-2E44-4202-A3DB-01034783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4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상위 문맥, 자식 행, 0·빈칸 여부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8522C-D378-4285-917F-CD40303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19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EFE9E-4CCA-4823-A469-3603C12D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86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0D316-05F1-4222-9A7C-61AED715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표준 계정 가드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F4EE7-3760-42B3-8FEB-E9580CAB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05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사전에 없으면 fallback, 없으면 UNMAPPED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2B7A6-E159-46B4-8738-1AEB37CD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11E6C-3372-42AD-A33B-2AB49930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KR 로드 순서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8AA51-4118-4EFD-BAA6-7F8891B7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15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01820"/>
                </a:solidFill>
                <a:latin typeface="Consolas"/>
                <a:ea typeface="Consolas"/>
                <a:cs typeface="Consolas"/>
              </a:rPr>
              <a:t>kr_mapping.yaml → mapping_kr.yaml → mapping_common.yaml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C7FC6-4E9A-4A59-B9CB-731C28E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7150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376개 항목 · 고유 규칙 ID 122개 · 대상 표준 계정 91개</a:t>
            </a:r>
          </a:p>
        </p:txBody>
      </p:sp>
    </p:spTree>
    <p:extLst>
      <p:ext uri="{BB962C8B-B14F-4D97-AF65-F5344CB8AC3E}">
        <p14:creationId xmlns:p14="http://schemas.microsoft.com/office/powerpoint/2010/main" val="12895824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E2AE4-2EF5-4818-9947-5F1FBD54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SIGN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3A638-F84B-4D25-8C9D-69D7592D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금액 부호와 현금 방향은 따로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688AD-7968-47A4-AF36-7F7B1ABA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4AE68-22F5-4C80-8D0F-C525F48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1AE6C-5BE5-42BD-A8A5-6B97AEBC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B666E-1E5F-43F6-84D4-E5E25AA9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금액 정책 우선순위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0BED5-7FA4-467A-9DD4-0F14754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056B6-777E-4841-91AD-0B3B8BFD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E1F81-B298-46DB-90F0-BB503418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개별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77FB7-A396-4DEC-AF7D-74CA8334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52FBE-3D5D-4CD9-94EC-FFCD475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00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16DB1-C94E-456B-9D0A-0197B4C2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표준 계정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DEAAB-AD50-4387-9227-CDED0448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30DFB-44DB-4FA7-97A3-FD7B96E5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34777-71C1-46B0-A051-D49D4A61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재무제표 기본값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B45FD-A4D0-47E1-8E71-0F6D1941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4F3CC-FECE-45BB-8E42-4F35C986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원문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DC477-50D5-44C5-8B8B-C0C9F4F0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9128F-E046-48A9-B7A8-AB958C33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CAPEX_PPE 실제 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85690-061B-4CBE-B5CC-3946D5DA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표시  +47,522,179,000,000원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1B5F8-5571-4AA1-9302-36D6D61E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현금 효과  −47,522,179,000,000원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3DF41-A180-440D-921D-0820F36F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후처리에서 정리하는 충돌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6E59E-7901-411D-ACE7-0C3345F0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B5FC7-7066-4D6C-9ECC-52FBEABA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중복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8070A-1A80-4C66-8B19-9FEAECC3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0원 소계보다 실제 값</a:t>
            </a:r>
          </a:p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부모보다 리프, 얕은 행보다 깊은 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74673-1610-4B7E-9781-E73DDDF9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D074F-A498-4A72-B9E1-5873B61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IS / CIS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4CDED-6EB0-4FF4-9307-1AD48935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손익 계정은 IS 우선</a:t>
            </a:r>
          </a:p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OCI·총포괄손익은 CIS 유지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9A5EF-6EEA-4FAD-B461-C5855FD9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29D963-01CF-49EB-97BD-FDE7001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주석 보강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EFCC6-2582-43B3-B870-F88416E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본문에 없는 표준 계정만 채움</a:t>
            </a:r>
          </a:p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기존 값을 덮어쓰지 않음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38404-3478-4846-A384-AB023DDF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DF642-9D4E-42D2-80E8-32813F54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57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단위 보정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F9A332-0A8A-4771-801B-C7E13810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1965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100배 초과 → 보정 뒤 10배 이내</a:t>
            </a:r>
          </a:p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지지 3행 이상·비교 행 25% 이상</a:t>
            </a:r>
          </a:p>
        </p:txBody>
      </p:sp>
    </p:spTree>
    <p:extLst>
      <p:ext uri="{BB962C8B-B14F-4D97-AF65-F5344CB8AC3E}">
        <p14:creationId xmlns:p14="http://schemas.microsoft.com/office/powerpoint/2010/main" val="7591436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101BC1-AD59-4633-944E-564CF25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A88E2-E50A-4752-AD22-C005CFB0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매핑률은 관찰값이고, 합격은 정합성으로 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AAAF2-C7B9-42D6-BBC8-6BF1B446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D060A-780F-4860-A431-FCA42CDC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7E8B9-3F43-4A09-A386-C24917AE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6FB53-BDAB-4823-BECA-ECADE8DB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162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977F6-665A-43DB-A166-758B02B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49.64%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6FDEA-C9D7-43CD-A6B3-C51B3FE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매핑률 · 68 / 137행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AFD5A-C452-4614-BFEE-4CBE8ABF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미매핑을 억지로 끌어오지 않은 관찰값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9DAB7-BDFC-4BC6-9BF0-B5D46BBC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3162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0A8D7-FFD0-4986-A54B-3EDF2EA0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100점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F5510-7AF5-4598-BC46-A28E0EED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PASS · 경고 0 · 오류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0E533-A327-4C3C-BD41-339FD60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핵심 계정·산식·중복·단위를 묶은 판정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507A8-11B6-4791-AE3A-75F7934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52600"/>
            <a:ext cx="4457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562CC-871F-4891-AB2F-B0D897CC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검산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0D806-908E-4742-91C8-F67871AF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24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산식 9 / 9  ·  오차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42EC2-CFF4-4087-9591-78FCDB53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팩터 24 / 24  ·  핵심 누락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8B63F-E07D-4118-9ED3-0DEAC3C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BS · IS · CF 필수 / 핵심 계정 7개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B3C9B-6685-4C06-8B9F-CEDFCC36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9개 산식이 확인하는 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E3F5C-60A1-4991-B3C8-DA247ADA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3486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90B21-752A-466D-A820-100A980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재무상태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23168-D534-43D8-981A-248C157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자산 = 부채 + 자본</a:t>
            </a:r>
          </a:p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유동·비유동 자산/부채 구성</a:t>
            </a:r>
          </a:p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지배·비지배 자본 귀속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2716C-BA9C-471A-87DA-9DE2F717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86250"/>
            <a:ext cx="3486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32F46-095D-4766-B8B4-1F6C2EB3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손익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006AB-0AA7-4986-BE43-4AB2F4D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매출총이익 − 판관비·R&amp;D = 영업이익</a:t>
            </a:r>
          </a:p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법인세차감전이익 ± 세금 = 순이익</a:t>
            </a:r>
          </a:p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지배 + 비지배 순이익 = 순이익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A807F-03EE-4ABA-9E8A-504D3268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3486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BEC2D-0CCD-43EE-A2C7-2C8B67A9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현금흐름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B3880-3DFD-4684-9FD1-6588D75E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38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CFO + CFI + CFF = 현금 증감</a:t>
            </a:r>
          </a:p>
          <a:p xmlns:a="http://schemas.openxmlformats.org/drawingml/2006/main">
            <a:pPr algn="l"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기초 현금 + 현금 증감 = 기말 현금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2DD84-757A-42CB-9936-654C7A9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금지 매핑: 머리글 · 중간 CFO 소계 · 포괄손익 귀속 · 부채와 자본 총계 · CF 기초/기말 현금의 BS 연결</a:t>
            </a:r>
          </a:p>
        </p:txBody>
      </p:sp>
    </p:spTree>
    <p:extLst>
      <p:ext uri="{BB962C8B-B14F-4D97-AF65-F5344CB8AC3E}">
        <p14:creationId xmlns:p14="http://schemas.microsoft.com/office/powerpoint/2010/main" val="718460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E5CAF-AAAA-4E7F-91DB-BD3D4B24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CROSS-MARKET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EDD07-FC9F-47F2-AD54-2A2C6A2D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한국과 미국은 같은 계정 사전으로 합류한다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617B9-4FD4-4360-941F-79B6A5B1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76242-D4BD-4872-B767-E5CB22E7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E4A76-C76D-4924-9A50-08B1B876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57200" y="1752600"/>
          <a:ext xmlns:a="http://schemas.openxmlformats.org/drawingml/2006/main" cx="11277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781550"/>
                <a:gridCol w="4781550"/>
              </a:tblGrid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공시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공시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원천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 재무제표·주석 HTML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Companyfacts·notes·edgartools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판별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계정명·문맥·행 구조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XBRL 태그·레이블·네임스페이스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규모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 21개 · 로드 항목 376개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Companyfacts 74 · notes 13 · fallback 16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처리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CIS/IS 중복 · 단위 보정 · 주석 보강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10-K·10-Q 계열 · 출처 순위 · 제출일 중복 제거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도착점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CanonicalAccount 92개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CanonicalAccount 92개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2F4E0-3882-4F67-BF90-8FEB3A04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542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96F6D-1ACA-4F6D-98B9-0413BADD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KR 규칙 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F3E03-001F-45CD-BDA2-C3BA18D4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이름 → 문맥 → 구조 → 표준 계정 가드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1C335-5331-45A0-ADAD-7DE8C15C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43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원문 표 구조를 남긴 채 첫 일치 규칙을 고른다.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4BEB4-D03F-4A26-A353-6F0CD38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0150"/>
            <a:ext cx="542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533FB-3428-4B4F-8D25-2D2F0A58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00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US 출처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0C5ED-4800-43AF-B2B7-BEB831C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01820"/>
                </a:solidFill>
                <a:latin typeface="Consolas"/>
                <a:ea typeface="Consolas"/>
                <a:cs typeface="Consolas"/>
              </a:rPr>
              <a:t>primary → alternate → label → notes → edgartools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A428C-694F-464B-821B-97F08ED4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43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등급이면 제출일과 accession이 최신인 값을 남긴다.</a:t>
            </a:r>
          </a:p>
        </p:txBody>
      </p:sp>
    </p:spTree>
    <p:extLst>
      <p:ext uri="{BB962C8B-B14F-4D97-AF65-F5344CB8AC3E}">
        <p14:creationId xmlns:p14="http://schemas.microsoft.com/office/powerpoint/2010/main" val="20435722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7776C-B37B-4DA6-BF0B-F28E061B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RUNTIME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44B8A-D30A-4A20-A74F-93666644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실제 API 응답은 표와 추세를 바로 그릴 수 있게 내보낸다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84512-FBAE-42AB-A049-079097AC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083F8-A14C-499F-BEB1-1C074AE4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BB80B-9B3B-4073-A842-3A95552E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7AC15-E054-4395-93CE-4CBEFE6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324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176d1e4b84480"/>
          <a:stretch xmlns:a="http://schemas.openxmlformats.org/drawingml/2006/main"/>
        </p:blipFill>
        <p:spPr>
          <a:xfrm xmlns:a="http://schemas.openxmlformats.org/drawingml/2006/main">
            <a:off x="558122" y="1714500"/>
            <a:ext cx="8123006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26A35-322C-4774-A9DC-F716EBB3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57350"/>
            <a:ext cx="27241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376A9-EFFF-4DC5-96F6-D7100DAE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ACTUAL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9E701-8C26-4DE2-86B5-025F9B06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200 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02D2C-D106-4907-AC05-F5F312BB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84BF0-F9A8-483B-A524-1A833467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005930 · KR · KRW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291C7-0B31-4F58-8758-A8736EE8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연간 10개 열</a:t>
            </a:r>
          </a:p>
          <a:p xmlns:a="http://schemas.openxmlformats.org/drawingml/2006/main">
            <a:pPr algn="l">
              <a:defRPr sz="13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2016–2025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B0FCD-6A4A-40DF-8BD0-03412B71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481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최근 매출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A9B4D-DFEA-4261-9E56-00850018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33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333.6조원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FC9CD-A5FF-4D7A-87D5-DFE98A2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전년 대비 +10.88%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2051B-2A88-48C1-8653-D880B745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149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10180-5EEE-4514-B65B-96D88C6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054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ClickHouse 우선</a:t>
            </a:r>
          </a:p>
          <a:p xmlns:a="http://schemas.openxmlformats.org/drawingml/2006/main">
            <a:pPr algn="l">
              <a:def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→ Silver CSV fallback</a:t>
            </a:r>
          </a:p>
          <a:p xmlns:a="http://schemas.openxmlformats.org/drawingml/2006/main">
            <a:pPr algn="l">
              <a:def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→ annual / quarter / TTM</a:t>
            </a:r>
          </a:p>
          <a:p xmlns:a="http://schemas.openxmlformats.org/drawingml/2006/main">
            <a:pPr algn="l">
              <a:def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→ FCF · 증감률 · 추세 · 통계</a:t>
            </a:r>
          </a:p>
        </p:txBody>
      </p:sp>
    </p:spTree>
    <p:extLst>
      <p:ext uri="{BB962C8B-B14F-4D97-AF65-F5344CB8AC3E}">
        <p14:creationId xmlns:p14="http://schemas.microsoft.com/office/powerpoint/2010/main" val="14643307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B9D9B-CD02-4D9C-8F23-E6E4B0FA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REFRESH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22C9D-EEB2-42F8-B23A-20ECE9DC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갱신 작업은 실패한 단계에서 다시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FDED8-59EC-44B9-B5AE-F2FA563F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5E297-03B9-4C23-90C7-78A194AE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2D6FF-4422-451F-BCDE-CFFBA01C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FD8C8-DD93-402E-B71C-066F4D1F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0BDB2-872E-4C49-95CE-E6CAA478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FD0C5-0492-4300-8596-79D573BC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C67C4-50D4-4F7C-A0F8-BCD9E8E7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획득·검증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DA37D-0FBA-45FF-8C57-83BC4A3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원천 다운로드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형식과 내용 확인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archive/manifest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17EF0-A9D9-4F20-ADD7-09B0B659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06340-7651-428D-AAA9-B56C0B89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2F59F-A649-4938-A7A1-6511C040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정규화·적재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95EF6-EB3D-4239-8CFF-A39AC163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Bronze → Silver/Gold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해당 시장 범위 교체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ClickHouse 적재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B9E3C-FCF4-4C21-9481-63F1101C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5B7F7-CEAA-4504-BA6F-2CFFA89D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9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2798C-736F-4106-B480-931DC9E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분석 파생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FEF3B-DD93-4582-924E-E63F5E70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1955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운영지표·컨센서스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WACC/RIM·raw factor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snapshot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36FC3-C75A-457A-95E0-28A85349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5FAF1-06BE-45EA-A915-9FFB33F9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4052C-240C-40D7-AD19-76EE79D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증분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DB8DB-EE54-4AF6-A0AF-DCBC1270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완전한 거래일 선택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마지막 적재일 다음 날부터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중복 작업 축소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8B6E1-898A-468E-8E5A-0BC0BC40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C36FC-1B49-4402-80D4-8733B154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운영 안전장치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1CC75-6317-4B77-97D1-4E7207B1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721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시장별 lock · 원자적 파일 교체 · refresh_state 서명 · --resume / --no-resume · dry-run · 99% 완전 유니버스 기준</a:t>
            </a:r>
          </a:p>
        </p:txBody>
      </p:sp>
    </p:spTree>
    <p:extLst>
      <p:ext uri="{BB962C8B-B14F-4D97-AF65-F5344CB8AC3E}">
        <p14:creationId xmlns:p14="http://schemas.microsoft.com/office/powerpoint/2010/main" val="8507301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3996C-7EBC-4211-B301-8EEC46AC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API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DB106-5DF3-4885-9C38-A18D5016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REST와 MCP가 같은 서비스 코드를 호출한다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55FE3-16DD-4B46-B969-6DFEE905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5F536-FCE7-4DD4-B17F-DC70151E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549AE-673B-48A4-BCCB-9D482F33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16CCB-9F8B-4ADE-8600-3637A82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3A075-BC15-4E35-8741-570E3632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A5C35-952A-4B49-BF18-A5C3CCE9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6C5C4-8A82-4145-A65C-7265A7C4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847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5EBA5-6230-4D0D-BB8A-ED86E560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19388-DC18-4C64-8B52-93D50E5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FastAPI 라우트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입력 파라미터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HTTP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F5903-C8B2-459C-B57E-3954E75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1847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6FA54-0A0B-4D97-858A-5D8FCDD6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724C1-3A5E-435C-9211-1ADD180E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업무 규칙·DTO 조립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fallback·검증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서비스 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B4AEE-F548-4497-9E5C-C6205075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1847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DA344-559F-44F1-9B3F-FDB27CD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193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Repository /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140E6-DBD2-43EC-B0EA-EAB6B3B7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ClickHouse 쿼리 생성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팩터와 시장 공통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로직 재사용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B837E-18D9-4E0C-BA58-18296E88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847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E36F3-3C42-46F9-A2BB-74F8B23C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ClickHouse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4EDA2-83D6-4A51-811D-FF9344A2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시계열·스냅샷·실험</a:t>
            </a:r>
          </a:p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랭킹과 집계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BC926-2260-4280-8329-6211B8B4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481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89DC8-A742-4229-99C6-E108865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38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MCP 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EF573-77C5-4494-8356-FC1FF25A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5775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라우트 자동 변환</a:t>
            </a:r>
          </a:p>
          <a:p xmlns:a="http://schemas.openxmlformats.org/drawingml/2006/main">
            <a:pPr algn="l">
              <a:def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JSON-RPC · HTTP · stdio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675C6-8E6A-4349-A3E0-2810AAAB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9840C-20F1-42EB-A6E1-24EE213D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구현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B9DA4-ABB8-488B-97AB-A53D712C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48개 REST 스키마 라우트와 48개 MCP 도구가 함수·스키마·응답 계약을 함께 쓴다.</a:t>
            </a:r>
          </a:p>
        </p:txBody>
      </p:sp>
    </p:spTree>
    <p:extLst>
      <p:ext uri="{BB962C8B-B14F-4D97-AF65-F5344CB8AC3E}">
        <p14:creationId xmlns:p14="http://schemas.microsoft.com/office/powerpoint/2010/main" val="20355011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4941D-9D09-4E42-823E-6CC68086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FEATURE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6ECCF-D12A-4D22-9E11-F518EF38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기능은 기업 분석과 퀀트 연구로 나뉜다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126A8-6F4C-4A33-B832-2501AC6A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70329-7C54-42C9-AF89-99EFE5AE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B96FB-F320-459D-8CCA-D2F95729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B71F0-6627-4C21-B0C9-2A9241AF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82275-0102-44A4-AEA9-3A8BCD60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기업 기본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BDAAF-BB7B-4BEF-931A-6572486A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03D13-D75A-4A1F-A6B4-225C6D6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종목 소개 · 차트 · 섹터/산업군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재무제표 · 계정 상세 · 재무비율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A8A02-3A0E-4807-9845-82556BBC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A0BEC-BE93-43B5-BB67-A627E95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영업 모델과 추정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F2944-5F20-4B13-A1D3-5AEC49DA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809CB-AD29-4CEC-951B-EDB68F81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사업보고서 운영지표 · 단위경제성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드라이버 · 유사 컨센서스 · 실제 리포트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D73D2-A389-422F-A4B7-1DA73E2F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01082-BBF3-45B4-90C7-C3130AF8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팩터 연구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45506-71FC-4CC0-8DAD-25CD4110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DED84-1408-48F9-A95C-6D1743D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248개 팩터 카탈로그 · 조건 스크리닝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전략 저장 · 스타일 점수 · 섹터 리더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2830F-D449-4F45-AD3E-A8B76DBE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080C6-9BE0-452D-9360-BAE846D6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실험과 가치평가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B9640-C1BF-496A-82FF-F73673FE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9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4BF1A-D90E-4A10-860E-C8802B22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482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Factor Lab 그래프 · 노드 미리보기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백테스트 · 멀티플 밴드 · RIM/WACC</a:t>
            </a:r>
          </a:p>
        </p:txBody>
      </p:sp>
    </p:spTree>
    <p:extLst>
      <p:ext uri="{BB962C8B-B14F-4D97-AF65-F5344CB8AC3E}">
        <p14:creationId xmlns:p14="http://schemas.microsoft.com/office/powerpoint/2010/main" val="6089471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9CB98-CBBC-46A7-8F44-87D8FD37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FACTOR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26D79-D40B-412B-96BC-F843C52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팩터 계산·시점 보존·결과 해석을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25FB2-2AC2-4FA8-861E-F84AFA65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5C560-1BA1-41E8-9054-F3578034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FD4A0-930B-463F-B548-A94D7DA7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61171-68F4-4A7C-B06E-943F141A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33528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56280-3213-456F-A219-AA9D2F6E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EC744-406A-4172-B9F9-5A9CD95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팩터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5A35E-62D7-4DD7-BCA7-05B79E5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성장 50 · 금액 37 · 품질 30 · 리스크 29 등 14개 그룹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D916-267D-46CE-8AB9-46486C67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528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85CEA-35C7-4C5D-947A-BBDAFD0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98E84-18F6-4C4F-94D7-AF6BB003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스타일 입력 정의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73A2E-6B2E-4DD2-B947-A573F4E2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Value · Quality · Growth · Consensus · Momentum · Risk · Dividend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727EB-2402-40C6-831E-63110F6B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33528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76978-7769-48AC-8825-1DE6CB0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0AAB3-0E31-4B64-9F83-A78C7CEC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시점 보존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B230F-7E1E-45F9-B338-E2A197F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raw factor와 일별 snapshot을 분리해 과거 시그널을 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1FBC6-2A28-42D1-A822-3C6F9D6A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계산 계층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DECD8-C023-4CB3-8B58-97726584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재무·가격·배당·컨센서스 → 비율·성장·모멘텀·WACC·RIM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DF762-92DA-4248-A115-9F06A400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서빙 계층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A39B6-22B0-4EC5-8001-C92595E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factor_catalog → fact_daily_factors → fact_daily_factor_snapshot → screen / score / backtest</a:t>
            </a:r>
          </a:p>
        </p:txBody>
      </p:sp>
    </p:spTree>
    <p:extLst>
      <p:ext uri="{BB962C8B-B14F-4D97-AF65-F5344CB8AC3E}">
        <p14:creationId xmlns:p14="http://schemas.microsoft.com/office/powerpoint/2010/main" val="3185289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B5958-3EC2-4F82-957A-CFC6307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EXPERIMENT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08023-D78F-4028-B14C-04461100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Factor Lab은 그래프 실험을 검증하고 백테스트한다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C4138-0AF9-405F-AE80-706A344F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35개 노드 타입은 input·arithmetic·logic·transform·temporal·score·evaluate의 7개 그룹에 속한다.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7C303-729F-4F1B-B8D8-D59F05CB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5C045-FF87-407C-B826-AA87655E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1F868-F0A3-42F3-847D-F14BE7B3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25DBD-3CCD-46A2-8EF0-6F1D278F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E45CC-DE0E-4541-8B05-F9F9407F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DE235-CF24-4DF3-B229-A350250F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85D3-3CF9-449A-B39D-DE0BB818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4A255-EDD4-441F-B84A-F9D75AE2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노드 타입 확인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그래프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05B53-E49A-405E-97D0-721F791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28B9B-5648-4BB8-BE42-F2860D97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ED2EF-4895-43E9-9680-35D4C29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검증·컴파일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322AD-4B6A-4578-848B-548D0499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스키마와 의존성 검사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graph hash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A985D-762F-4B15-A0C3-6C3E44CA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4EC94-3BF7-4692-9FF7-18B1F772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FCD49-0389-417E-AF00-74DA2F1D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실행·캐시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9F961-2213-4C74-B5D0-CCE5836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노드 값 계산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품질 요약·랭킹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7BB36-E2E2-4660-A098-BA05F4AF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212A5-3280-4357-8A91-F44B0D40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1393-EB75-4984-A25B-CD7E661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검토·백테스트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17E9B-1B8D-4853-A42D-EB68152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노드와 최종 결과 미리보기</a:t>
            </a:r>
          </a:p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리밸런싱·비용·벤치마크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E1CB6-6C13-4D40-9573-23D9D444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4A29D-5B4A-47D3-A61F-306C79B9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재현성 장치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7C016-9B6A-4A96-B699-D455EA41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95900"/>
            <a:ext cx="946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experiment / run / node_cache / factor_values 테이블 · 완료 상태 검증 · point-in-time snapshot 우선 · 거래비용 반영</a:t>
            </a:r>
          </a:p>
        </p:txBody>
      </p:sp>
    </p:spTree>
    <p:extLst>
      <p:ext uri="{BB962C8B-B14F-4D97-AF65-F5344CB8AC3E}">
        <p14:creationId xmlns:p14="http://schemas.microsoft.com/office/powerpoint/2010/main" val="9300487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EF667-245E-4F6B-8838-F22ECAC2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QUALITY AND MAINTAINABILITY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B5F20-46D7-4048-BBDC-362B895D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검증은 넓게, 복잡한 모듈은 집중 관리한다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D920A-7CEA-4EC2-8BC8-E040D14A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CC2F6-993F-4D30-8A41-CC1FDEDA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2026-08-14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D9CB6-C4D1-4B7A-A793-14BA1B58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57200" y="1962150"/>
          <a:ext xmlns:a="http://schemas.openxmlformats.org/drawingml/2006/main" cx="61912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2250b618064d6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C8A15-DDC5-4024-8057-1E23BE3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Python 소스 라인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ECD60-3854-4FC7-B5F0-2C9B93FE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6D53C-14EA-4F13-A5BC-0808F2E3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검증 자산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738B1-6BF3-47EC-A1B7-5EF7ABC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56 files · 580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54F31-2935-4664-B6C2-3D30EE3A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24200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정규화·팩터·백테스트·API·MCP·refresh·보안 설정을 다룬다.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79755-5ECF-4C6E-B344-0E067FCA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BCA73-A46C-49C1-9338-7AAA1EB3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변경 집중 지점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EC010-3083-4FDD-B590-B7672080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243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대형 내부 모듈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8D853-1F08-44A2-AA2A-ABC51570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normalization_validator · factor_metrics · refresh_workflow · Factor Lab/valuation 서비스는 분할과 회귀 검증을 우선할 대상이다.</a:t>
            </a:r>
          </a:p>
        </p:txBody>
      </p:sp>
    </p:spTree>
    <p:extLst>
      <p:ext uri="{BB962C8B-B14F-4D97-AF65-F5344CB8AC3E}">
        <p14:creationId xmlns:p14="http://schemas.microsoft.com/office/powerpoint/2010/main" val="19643539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97C59-E50F-44C7-9D5B-8E76E323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CURRENT-STATE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8075B-F64C-44A4-A653-1205563A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Arcana를 이해하려면</a:t>
            </a:r>
          </a:p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데이터 승격 경로부터 보면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8CE58-CB70-479D-9DF6-6029AA8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4B19-718C-4544-8BA3-BB258CC0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FDB22-EEED-447E-9EC9-2A3FDAF0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README.md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7268F-5B72-42B8-9124-598FE7D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운영 명령과 데이터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6E5C3-31A5-4444-B79E-2F20940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7ACE4-2A39-49CF-AE40-6165264F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engine.workflows.</a:t>
            </a:r>
          </a:p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refresh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B01EE-9C3A-4D8F-A235-58E16F39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통합 갱신 진입점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92634-E2CB-444A-8367-628AA7D3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4B280-8E2E-418A-B9CF-F5C3DF40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api.main ·</a:t>
            </a:r>
          </a:p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API_SPEC.md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DAA5D-6E0F-4F34-9B39-1B5B744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외부 계약과 기능 지도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7002D-FC7B-4EEB-9DAB-BAEA7EDC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A2177-BD1A-4FFE-888C-7C69D359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tests/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4E771-2888-4C68-9E2C-ECCEED1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변경할 때 지켜야 할 동작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353F9-2CFA-4651-A8D6-D918FAAA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새 기능은 Source → 정규화 규칙 → 적재 스키마 → Service/DTO → REST·MCP 계약 → 테스트 순으로 추적한다.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E76BB-132C-4A7A-817B-53896926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82687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2026-08-14T11:55:50.8900000Z</dcterms:created>
  <dcterms:modified xsi:type="dcterms:W3CDTF">2026-08-14T11:55:50.8900000Z</dcterms:modified>
</coreProperties>
</file>