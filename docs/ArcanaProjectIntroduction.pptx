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1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9d29fce51e7438a" /><Relationship Type="http://schemas.openxmlformats.org/officeDocument/2006/relationships/extended-properties" Target="/docProps/app.xml" Id="Rcab2827971144efe" /><Relationship Type="http://schemas.openxmlformats.org/officeDocument/2006/relationships/officeDocument" Target="/ppt/presentation.xml" Id="R115a0105fbce4c1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a8117e13ec24d2a"/>
  </p:sldMasterIdLst>
  <p:notesMasterIdLst>
    <p:notesMasterId xmlns:r="http://schemas.openxmlformats.org/officeDocument/2006/relationships" r:id="R9ce105cc34364cf2"/>
  </p:notesMasterIdLst>
  <p:sldIdLst>
    <p:sldId xmlns:r="http://schemas.openxmlformats.org/officeDocument/2006/relationships" id="256" r:id="R44f22e5b8a914948"/>
    <p:sldId xmlns:r="http://schemas.openxmlformats.org/officeDocument/2006/relationships" id="257" r:id="Raba1fbe0d9ec472b"/>
    <p:sldId xmlns:r="http://schemas.openxmlformats.org/officeDocument/2006/relationships" id="258" r:id="R9398fa9f0e384678"/>
    <p:sldId xmlns:r="http://schemas.openxmlformats.org/officeDocument/2006/relationships" id="259" r:id="R95e966c2494143a0"/>
    <p:sldId xmlns:r="http://schemas.openxmlformats.org/officeDocument/2006/relationships" id="260" r:id="Rcbd2d10b080347ec"/>
    <p:sldId xmlns:r="http://schemas.openxmlformats.org/officeDocument/2006/relationships" id="261" r:id="R88ec62ccd6e044ee"/>
    <p:sldId xmlns:r="http://schemas.openxmlformats.org/officeDocument/2006/relationships" id="262" r:id="Rf3f9649a860b4546"/>
    <p:sldId xmlns:r="http://schemas.openxmlformats.org/officeDocument/2006/relationships" id="263" r:id="R8ac41e99358740e5"/>
    <p:sldId xmlns:r="http://schemas.openxmlformats.org/officeDocument/2006/relationships" id="264" r:id="Rd47a6a9ebded4cab"/>
    <p:sldId xmlns:r="http://schemas.openxmlformats.org/officeDocument/2006/relationships" id="265" r:id="R975a1af9305a4131"/>
    <p:sldId xmlns:r="http://schemas.openxmlformats.org/officeDocument/2006/relationships" id="266" r:id="R64506f73427f416f"/>
    <p:sldId xmlns:r="http://schemas.openxmlformats.org/officeDocument/2006/relationships" id="267" r:id="R32b0d310e54b4e7a"/>
    <p:sldId xmlns:r="http://schemas.openxmlformats.org/officeDocument/2006/relationships" id="268" r:id="Rd8b4fe57ba7946de"/>
    <p:sldId xmlns:r="http://schemas.openxmlformats.org/officeDocument/2006/relationships" id="269" r:id="Ra86bc323f37f46a5"/>
    <p:sldId xmlns:r="http://schemas.openxmlformats.org/officeDocument/2006/relationships" id="270" r:id="Rbab2b7970abd4a9e"/>
    <p:sldId xmlns:r="http://schemas.openxmlformats.org/officeDocument/2006/relationships" id="271" r:id="Rb31401029a49492e"/>
    <p:sldId xmlns:r="http://schemas.openxmlformats.org/officeDocument/2006/relationships" id="272" r:id="Rd30b13af99b64bc1"/>
    <p:sldId xmlns:r="http://schemas.openxmlformats.org/officeDocument/2006/relationships" id="273" r:id="R414a809098344baf"/>
    <p:sldId xmlns:r="http://schemas.openxmlformats.org/officeDocument/2006/relationships" id="274" r:id="R2dc7c21e8c2e42b7"/>
    <p:sldId xmlns:r="http://schemas.openxmlformats.org/officeDocument/2006/relationships" id="275" r:id="R27d54e409d5b4c7c"/>
    <p:sldId xmlns:r="http://schemas.openxmlformats.org/officeDocument/2006/relationships" id="276" r:id="R1aac68a0806548ee"/>
    <p:sldId xmlns:r="http://schemas.openxmlformats.org/officeDocument/2006/relationships" id="277" r:id="R02f10be99a49418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065162ca5b14e84" /><Relationship Type="http://schemas.openxmlformats.org/officeDocument/2006/relationships/slideMaster" Target="/ppt/slideMasters/slideMaster1.xml" Id="R2a8117e13ec24d2a" /><Relationship Type="http://schemas.openxmlformats.org/officeDocument/2006/relationships/notesMaster" Target="/ppt/notesMasters/notesMaster1.xml" Id="R9ce105cc34364cf2" /><Relationship Type="http://schemas.openxmlformats.org/officeDocument/2006/relationships/presProps" Target="/ppt/presProps.xml" Id="R24568baf1c2e422a" /><Relationship Type="http://schemas.openxmlformats.org/officeDocument/2006/relationships/tableStyles" Target="/ppt/tableStyles.xml" Id="Rf6c5b4c1f83a4bfc" /><Relationship Type="http://schemas.openxmlformats.org/officeDocument/2006/relationships/slide" Target="/ppt/slides/slide1.xml" Id="R44f22e5b8a914948" /><Relationship Type="http://schemas.openxmlformats.org/officeDocument/2006/relationships/slide" Target="/ppt/slides/slide2.xml" Id="Raba1fbe0d9ec472b" /><Relationship Type="http://schemas.openxmlformats.org/officeDocument/2006/relationships/slide" Target="/ppt/slides/slide3.xml" Id="R9398fa9f0e384678" /><Relationship Type="http://schemas.openxmlformats.org/officeDocument/2006/relationships/slide" Target="/ppt/slides/slide4.xml" Id="R95e966c2494143a0" /><Relationship Type="http://schemas.openxmlformats.org/officeDocument/2006/relationships/slide" Target="/ppt/slides/slide5.xml" Id="Rcbd2d10b080347ec" /><Relationship Type="http://schemas.openxmlformats.org/officeDocument/2006/relationships/slide" Target="/ppt/slides/slide6.xml" Id="R88ec62ccd6e044ee" /><Relationship Type="http://schemas.openxmlformats.org/officeDocument/2006/relationships/slide" Target="/ppt/slides/slide7.xml" Id="Rf3f9649a860b4546" /><Relationship Type="http://schemas.openxmlformats.org/officeDocument/2006/relationships/slide" Target="/ppt/slides/slide8.xml" Id="R8ac41e99358740e5" /><Relationship Type="http://schemas.openxmlformats.org/officeDocument/2006/relationships/slide" Target="/ppt/slides/slide9.xml" Id="Rd47a6a9ebded4cab" /><Relationship Type="http://schemas.openxmlformats.org/officeDocument/2006/relationships/slide" Target="/ppt/slides/slide10.xml" Id="R975a1af9305a4131" /><Relationship Type="http://schemas.openxmlformats.org/officeDocument/2006/relationships/slide" Target="/ppt/slides/slide11.xml" Id="R64506f73427f416f" /><Relationship Type="http://schemas.openxmlformats.org/officeDocument/2006/relationships/slide" Target="/ppt/slides/slide12.xml" Id="R32b0d310e54b4e7a" /><Relationship Type="http://schemas.openxmlformats.org/officeDocument/2006/relationships/slide" Target="/ppt/slides/slide13.xml" Id="Rd8b4fe57ba7946de" /><Relationship Type="http://schemas.openxmlformats.org/officeDocument/2006/relationships/slide" Target="/ppt/slides/slide14.xml" Id="Ra86bc323f37f46a5" /><Relationship Type="http://schemas.openxmlformats.org/officeDocument/2006/relationships/slide" Target="/ppt/slides/slide15.xml" Id="Rbab2b7970abd4a9e" /><Relationship Type="http://schemas.openxmlformats.org/officeDocument/2006/relationships/slide" Target="/ppt/slides/slide16.xml" Id="Rb31401029a49492e" /><Relationship Type="http://schemas.openxmlformats.org/officeDocument/2006/relationships/slide" Target="/ppt/slides/slide17.xml" Id="Rd30b13af99b64bc1" /><Relationship Type="http://schemas.openxmlformats.org/officeDocument/2006/relationships/slide" Target="/ppt/slides/slide18.xml" Id="R414a809098344baf" /><Relationship Type="http://schemas.openxmlformats.org/officeDocument/2006/relationships/slide" Target="/ppt/slides/slide19.xml" Id="R2dc7c21e8c2e42b7" /><Relationship Type="http://schemas.openxmlformats.org/officeDocument/2006/relationships/slide" Target="/ppt/slides/slide20.xml" Id="R27d54e409d5b4c7c" /><Relationship Type="http://schemas.openxmlformats.org/officeDocument/2006/relationships/slide" Target="/ppt/slides/slide21.xml" Id="R1aac68a0806548ee" /><Relationship Type="http://schemas.openxmlformats.org/officeDocument/2006/relationships/slide" Target="/ppt/slides/slide22.xml" Id="R02f10be99a49418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f29a72b235c49d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8fe9e47251a41ac" /><Relationship Type="http://schemas.openxmlformats.org/officeDocument/2006/relationships/notesMaster" Target="/ppt/notesMasters/notesMaster1.xml" Id="Rbc7e5bcf6c6f45d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a26f388aa124db0" /><Relationship Type="http://schemas.openxmlformats.org/officeDocument/2006/relationships/notesMaster" Target="/ppt/notesMasters/notesMaster1.xml" Id="R102a00e6b721492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7ef10d3884c4dda" /><Relationship Type="http://schemas.openxmlformats.org/officeDocument/2006/relationships/notesMaster" Target="/ppt/notesMasters/notesMaster1.xml" Id="R41d067ee6baa407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929cbb3bb3a427f" /><Relationship Type="http://schemas.openxmlformats.org/officeDocument/2006/relationships/notesMaster" Target="/ppt/notesMasters/notesMaster1.xml" Id="Rb66c1f13718b447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19f876820e0444a" /><Relationship Type="http://schemas.openxmlformats.org/officeDocument/2006/relationships/notesMaster" Target="/ppt/notesMasters/notesMaster1.xml" Id="R23893e3f7b1e4fa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979b8b0718b4320" /><Relationship Type="http://schemas.openxmlformats.org/officeDocument/2006/relationships/notesMaster" Target="/ppt/notesMasters/notesMaster1.xml" Id="R6399a0ac92274de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6e2f84bdc574fec" /><Relationship Type="http://schemas.openxmlformats.org/officeDocument/2006/relationships/notesMaster" Target="/ppt/notesMasters/notesMaster1.xml" Id="Rc7e7d81c737e42f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fc8eedd546e4a6b" /><Relationship Type="http://schemas.openxmlformats.org/officeDocument/2006/relationships/notesMaster" Target="/ppt/notesMasters/notesMaster1.xml" Id="Rabe02c479e554e5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5e65f0aec3b407a" /><Relationship Type="http://schemas.openxmlformats.org/officeDocument/2006/relationships/notesMaster" Target="/ppt/notesMasters/notesMaster1.xml" Id="R7b1bdff776044ff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f19b803cf9245a4" /><Relationship Type="http://schemas.openxmlformats.org/officeDocument/2006/relationships/notesMaster" Target="/ppt/notesMasters/notesMaster1.xml" Id="R812cc128c91b4e3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ecebfb1d3344e8a" /><Relationship Type="http://schemas.openxmlformats.org/officeDocument/2006/relationships/notesMaster" Target="/ppt/notesMasters/notesMaster1.xml" Id="R1a333ac1cdc646e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ec98551e7a84880" /><Relationship Type="http://schemas.openxmlformats.org/officeDocument/2006/relationships/notesMaster" Target="/ppt/notesMasters/notesMaster1.xml" Id="R7cc3ef266deb4c2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0366ea795e1410c" /><Relationship Type="http://schemas.openxmlformats.org/officeDocument/2006/relationships/notesMaster" Target="/ppt/notesMasters/notesMaster1.xml" Id="R4b4ae2ab5a354dd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b3734be63bf440e" /><Relationship Type="http://schemas.openxmlformats.org/officeDocument/2006/relationships/notesMaster" Target="/ppt/notesMasters/notesMaster1.xml" Id="R0ede0ae876c04a1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068dfdcf56a4a6b" /><Relationship Type="http://schemas.openxmlformats.org/officeDocument/2006/relationships/notesMaster" Target="/ppt/notesMasters/notesMaster1.xml" Id="Rc625f70d608e431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4bdedacc4b349d0" /><Relationship Type="http://schemas.openxmlformats.org/officeDocument/2006/relationships/notesMaster" Target="/ppt/notesMasters/notesMaster1.xml" Id="Raaebf9f5cfc24a2c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167d4130ff54ab5" /><Relationship Type="http://schemas.openxmlformats.org/officeDocument/2006/relationships/notesMaster" Target="/ppt/notesMasters/notesMaster1.xml" Id="R28d95a4b6b31408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8e896a6433d47ef" /><Relationship Type="http://schemas.openxmlformats.org/officeDocument/2006/relationships/notesMaster" Target="/ppt/notesMasters/notesMaster1.xml" Id="R9a859579d1374694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780e8e6d5e7540a5" /><Relationship Type="http://schemas.openxmlformats.org/officeDocument/2006/relationships/notesMaster" Target="/ppt/notesMasters/notesMaster1.xml" Id="Ra5d92eb839f34262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4dcaa1fc43724d95" /><Relationship Type="http://schemas.openxmlformats.org/officeDocument/2006/relationships/notesMaster" Target="/ppt/notesMasters/notesMaster1.xml" Id="R7454162f88d44e2a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58b151d894234f45" /><Relationship Type="http://schemas.openxmlformats.org/officeDocument/2006/relationships/notesMaster" Target="/ppt/notesMasters/notesMaster1.xml" Id="R4227dd5432dd4ae6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38066f93a5fa4516" /><Relationship Type="http://schemas.openxmlformats.org/officeDocument/2006/relationships/notesMaster" Target="/ppt/notesMasters/notesMaster1.xml" Id="Rc3e038e677524bf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API_SPEC.md</a:t>
            </a:r>
          </a:p>
          <a:p xmlns:a="http://schemas.openxmlformats.org/drawingml/2006/main">
            <a:r>
              <a:t>- repository source snapshot (2026-08-16)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engine/loaders/_internal/clickhouse_factors.py</a:t>
            </a:r>
          </a:p>
          <a:p xmlns:a="http://schemas.openxmlformats.org/drawingml/2006/main">
            <a:r>
              <a:t>- api/main.py</a:t>
            </a:r>
          </a:p>
          <a:p xmlns:a="http://schemas.openxmlformats.org/drawingml/2006/main">
            <a:r>
              <a:t>- api/mcp.py</a:t>
            </a:r>
          </a:p>
          <a:p xmlns:a="http://schemas.openxmlformats.org/drawingml/2006/main">
            <a:r>
              <a:t>- tests/test_*.py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README.md#데이터-레이크-구조</a:t>
            </a:r>
          </a:p>
          <a:p xmlns:a="http://schemas.openxmlformats.org/drawingml/2006/main">
            <a:r>
              <a:t>- README.md#ELT-흐름</a:t>
            </a:r>
          </a:p>
          <a:p xmlns:a="http://schemas.openxmlformats.org/drawingml/2006/main">
            <a:r>
              <a:t>- api/main.py</a:t>
            </a:r>
          </a:p>
          <a:p xmlns:a="http://schemas.openxmlformats.org/drawingml/2006/main">
            <a:r>
              <a:t>- api/mcp.py</a:t>
            </a:r>
          </a:p>
          <a:p xmlns:a="http://schemas.openxmlformats.org/drawingml/2006/main">
            <a:r>
              <a:t>- data-lake/meta/sql/clickhouse_schema.sql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README.md#원천-데이터-보존</a:t>
            </a:r>
          </a:p>
          <a:p xmlns:a="http://schemas.openxmlformats.org/drawingml/2006/main">
            <a:r>
              <a:t>- engine/core/paths.py</a:t>
            </a:r>
          </a:p>
          <a:p xmlns:a="http://schemas.openxmlformats.org/drawingml/2006/main">
            <a:r>
              <a:t>- data-lake/</a:t>
            </a:r>
          </a:p>
          <a:p xmlns:a="http://schemas.openxmlformats.org/drawingml/2006/main">
            <a:r>
              <a:t>- data-lake/meta/sql/clickhouse_schema.sql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data-lake/bronze/dart/finance-statement/005930/finance_statement_(2025.12).html</a:t>
            </a:r>
          </a:p>
          <a:p xmlns:a="http://schemas.openxmlformats.org/drawingml/2006/main">
            <a:r>
              <a:t>- tmp/arcana_architecture_detail_build/normalized_example/kr_normalized_005930_2025.12.csv</a:t>
            </a:r>
          </a:p>
          <a:p xmlns:a="http://schemas.openxmlformats.org/drawingml/2006/main">
            <a:r>
              <a:t>- tmp/arcana_architecture_detail_build/validation_example/kr_normalized_005930_2025.12.validation.md</a:t>
            </a:r>
          </a:p>
          <a:p xmlns:a="http://schemas.openxmlformats.org/drawingml/2006/main">
            <a:r>
              <a:t>- engine/transformers/_internal/dart_filings.py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README.md#통합-최신-데이터-갱신</a:t>
            </a:r>
          </a:p>
          <a:p xmlns:a="http://schemas.openxmlformats.org/drawingml/2006/main">
            <a:r>
              <a:t>- engine/workflows/_internal/refresh_workflow.py</a:t>
            </a:r>
          </a:p>
          <a:p xmlns:a="http://schemas.openxmlformats.org/drawingml/2006/main">
            <a:r>
              <a:t>- engine/core/source_storage.py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api/service/factor_lab_service.py</a:t>
            </a:r>
          </a:p>
          <a:p xmlns:a="http://schemas.openxmlformats.org/drawingml/2006/main">
            <a:r>
              <a:t>- api/repository/factor_lab_query.py</a:t>
            </a:r>
          </a:p>
          <a:p xmlns:a="http://schemas.openxmlformats.org/drawingml/2006/main">
            <a:r>
              <a:t>- api/service/backtest_service.py</a:t>
            </a:r>
          </a:p>
          <a:p xmlns:a="http://schemas.openxmlformats.org/drawingml/2006/main">
            <a:r>
              <a:t>- api/repository/backtest_query.py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tests/test_*.py</a:t>
            </a:r>
          </a:p>
          <a:p xmlns:a="http://schemas.openxmlformats.org/drawingml/2006/main">
            <a:r>
              <a:t>- engine/</a:t>
            </a:r>
          </a:p>
          <a:p xmlns:a="http://schemas.openxmlformats.org/drawingml/2006/main">
            <a:r>
              <a:t>- api/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Test-definition count: 2026-08-16 source snapshot. Local pytest: 578 passed, 2 failed.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README.md#엔진-구조</a:t>
            </a:r>
          </a:p>
          <a:p xmlns:a="http://schemas.openxmlformats.org/drawingml/2006/main">
            <a:r>
              <a:t>- engine/</a:t>
            </a:r>
          </a:p>
          <a:p xmlns:a="http://schemas.openxmlformats.org/drawingml/2006/main">
            <a:r>
              <a:t>- api/</a:t>
            </a:r>
          </a:p>
          <a:p xmlns:a="http://schemas.openxmlformats.org/drawingml/2006/main">
            <a:r>
              <a:t>- data-lake/</a:t>
            </a:r>
          </a:p>
          <a:p xmlns:a="http://schemas.openxmlformats.org/drawingml/2006/main">
            <a:r>
              <a:t>- tests/</a:t>
            </a:r>
          </a:p>
          <a:p xmlns:a="http://schemas.openxmlformats.org/drawingml/2006/main">
            <a:r>
              <a:t>- scripts/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README.md#엔진-구조</a:t>
            </a:r>
          </a:p>
          <a:p xmlns:a="http://schemas.openxmlformats.org/drawingml/2006/main">
            <a:r>
              <a:t>- engine/core/</a:t>
            </a:r>
          </a:p>
          <a:p xmlns:a="http://schemas.openxmlformats.org/drawingml/2006/main">
            <a:r>
              <a:t>- engine/markets/</a:t>
            </a:r>
          </a:p>
          <a:p xmlns:a="http://schemas.openxmlformats.org/drawingml/2006/main">
            <a:r>
              <a:t>- engine/extractors/</a:t>
            </a:r>
          </a:p>
          <a:p xmlns:a="http://schemas.openxmlformats.org/drawingml/2006/main">
            <a:r>
              <a:t>- engine/transformers/</a:t>
            </a:r>
          </a:p>
          <a:p xmlns:a="http://schemas.openxmlformats.org/drawingml/2006/main">
            <a:r>
              <a:t>- engine/loaders/</a:t>
            </a:r>
          </a:p>
          <a:p xmlns:a="http://schemas.openxmlformats.org/drawingml/2006/main">
            <a:r>
              <a:t>- engine/workflows/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engine/markets/kr/config.py</a:t>
            </a:r>
          </a:p>
          <a:p xmlns:a="http://schemas.openxmlformats.org/drawingml/2006/main">
            <a:r>
              <a:t>- engine/markets/us/config.py</a:t>
            </a:r>
          </a:p>
          <a:p xmlns:a="http://schemas.openxmlformats.org/drawingml/2006/main">
            <a:r>
              <a:t>- engine/extractors/</a:t>
            </a:r>
          </a:p>
          <a:p xmlns:a="http://schemas.openxmlformats.org/drawingml/2006/main">
            <a:r>
              <a:t>- data-lake/meta/rules/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engine/transformers/_internal/dart_filings.py: statement discovery, parse_amount, unit parsing, row structure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engine/transformers/_internal/dart_filings.py: normalize_account_name, indent parsing</a:t>
            </a:r>
          </a:p>
          <a:p xmlns:a="http://schemas.openxmlformats.org/drawingml/2006/main">
            <a:r>
              <a:t>- data-lake/meta/rules/context_kr.yaml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data-lake/meta/rules/kr_mapping.yaml</a:t>
            </a:r>
          </a:p>
          <a:p xmlns:a="http://schemas.openxmlformats.org/drawingml/2006/main">
            <a:r>
              <a:t>- data-lake/meta/rules/mapping_kr.yaml</a:t>
            </a:r>
          </a:p>
          <a:p xmlns:a="http://schemas.openxmlformats.org/drawingml/2006/main">
            <a:r>
              <a:t>- data-lake/meta/rules/mapping_common.yaml</a:t>
            </a:r>
          </a:p>
          <a:p xmlns:a="http://schemas.openxmlformats.org/drawingml/2006/main">
            <a:r>
              <a:t>- engine/transformers/_internal/dart_filings.py: RuleEngine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data-lake/meta/rules/sign_policy.yaml</a:t>
            </a:r>
          </a:p>
          <a:p xmlns:a="http://schemas.openxmlformats.org/drawingml/2006/main">
            <a:r>
              <a:t>- engine/transformers/_internal/dart_filings.py: SignPolicy and postprocessing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data-lake/meta/rules/common_validation.yaml</a:t>
            </a:r>
          </a:p>
          <a:p xmlns:a="http://schemas.openxmlformats.org/drawingml/2006/main">
            <a:r>
              <a:t>- engine/normalization_validator.py</a:t>
            </a:r>
          </a:p>
          <a:p xmlns:a="http://schemas.openxmlformats.org/drawingml/2006/main">
            <a:r>
              <a:t>- tmp/arcana_architecture_detail_build/validation_example/kr_normalized_005930_2025.12.validation.md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data-lake/meta/CanonicalAccount.csv</a:t>
            </a:r>
          </a:p>
          <a:p xmlns:a="http://schemas.openxmlformats.org/drawingml/2006/main">
            <a:r>
              <a:t>- data-lake/meta/rules/context_kr.yaml</a:t>
            </a:r>
          </a:p>
          <a:p xmlns:a="http://schemas.openxmlformats.org/drawingml/2006/main">
            <a:r>
              <a:t>- data-lake/meta/rules/us_mapping.yaml</a:t>
            </a:r>
          </a:p>
          <a:p xmlns:a="http://schemas.openxmlformats.org/drawingml/2006/main">
            <a:r>
              <a:t>- engine/transformers/_internal/dart_filings.py</a:t>
            </a:r>
          </a:p>
          <a:p xmlns:a="http://schemas.openxmlformats.org/drawingml/2006/main">
            <a:r>
              <a:t>- engine/transformers/_internal/sec_filings.py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runtime capture: http://127.0.0.1:8765/docs (2026-08-14)</a:t>
            </a:r>
          </a:p>
          <a:p xmlns:a="http://schemas.openxmlformats.org/drawingml/2006/main">
            <a:r>
              <a:t>- api/main.py</a:t>
            </a:r>
          </a:p>
          <a:p xmlns:a="http://schemas.openxmlformats.org/drawingml/2006/main">
            <a:r>
              <a:t>- api/controller/financials_controller.py</a:t>
            </a:r>
          </a:p>
          <a:p xmlns:a="http://schemas.openxmlformats.org/drawingml/2006/main">
            <a:r>
              <a:t>- api/service/financials_service.py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API_SPEC.md</a:t>
            </a:r>
          </a:p>
          <a:p xmlns:a="http://schemas.openxmlformats.org/drawingml/2006/main">
            <a:r>
              <a:t>- api/main.py</a:t>
            </a:r>
          </a:p>
          <a:p xmlns:a="http://schemas.openxmlformats.org/drawingml/2006/main">
            <a:r>
              <a:t>- api/mcp.py</a:t>
            </a:r>
          </a:p>
          <a:p xmlns:a="http://schemas.openxmlformats.org/drawingml/2006/main">
            <a:r>
              <a:t>- api/controller/</a:t>
            </a:r>
          </a:p>
          <a:p xmlns:a="http://schemas.openxmlformats.org/drawingml/2006/main">
            <a:r>
              <a:t>- api/service/</a:t>
            </a:r>
          </a:p>
          <a:p xmlns:a="http://schemas.openxmlformats.org/drawingml/2006/main">
            <a:r>
              <a:t>- api/repository/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API_SPEC.md#REST-API-명세</a:t>
            </a:r>
          </a:p>
          <a:p xmlns:a="http://schemas.openxmlformats.org/drawingml/2006/main">
            <a:r>
              <a:t>- api/controller/</a:t>
            </a:r>
          </a:p>
          <a:p xmlns:a="http://schemas.openxmlformats.org/drawingml/2006/main">
            <a:r>
              <a:t>- api/service/</a:t>
            </a:r>
          </a:p>
          <a:p xmlns:a="http://schemas.openxmlformats.org/drawingml/2006/main">
            <a:r>
              <a:t>- engine/transformers/_internal/factor_metrics.py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engine/loaders/_internal/clickhouse_factors.py</a:t>
            </a:r>
          </a:p>
          <a:p xmlns:a="http://schemas.openxmlformats.org/drawingml/2006/main">
            <a:r>
              <a:t>- engine/transformers/_internal/factor_metrics.py</a:t>
            </a:r>
          </a:p>
          <a:p xmlns:a="http://schemas.openxmlformats.org/drawingml/2006/main">
            <a:r>
              <a:t>- engine/transformers/_internal/style_score_definitions.py</a:t>
            </a:r>
          </a:p>
          <a:p xmlns:a="http://schemas.openxmlformats.org/drawingml/2006/main">
            <a:r>
              <a:t>- data-lake/meta/sql/clickhouse_schema.sql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engine/workflows/refresh.py</a:t>
            </a:r>
          </a:p>
          <a:p xmlns:a="http://schemas.openxmlformats.org/drawingml/2006/main">
            <a:r>
              <a:t>- api/main.py</a:t>
            </a:r>
          </a:p>
          <a:p xmlns:a="http://schemas.openxmlformats.org/drawingml/2006/main">
            <a:r>
              <a:t>- API_SPEC.md</a:t>
            </a:r>
          </a:p>
          <a:p xmlns:a="http://schemas.openxmlformats.org/drawingml/2006/main">
            <a:r>
              <a:t>- tests/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9eeafd08a24ac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c4f2238a05646b7" /><Relationship Type="http://schemas.openxmlformats.org/officeDocument/2006/relationships/slideLayout" Target="/ppt/slideLayouts/slideLayout1.xml" Id="R570fb4d7faa5477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70fb4d7faa5477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1f2bc8501b4e9f" /><Relationship Type="http://schemas.openxmlformats.org/officeDocument/2006/relationships/notesSlide" Target="/ppt/notesSlides/notesSlide1.xml" Id="Rda37dde0ab824bb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5d6eeee3d34233" /><Relationship Type="http://schemas.openxmlformats.org/officeDocument/2006/relationships/notesSlide" Target="/ppt/notesSlides/notesSlide2.xml" Id="Re8eb8886863e42f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7d66848fdf43d2" /><Relationship Type="http://schemas.openxmlformats.org/officeDocument/2006/relationships/notesSlide" Target="/ppt/notesSlides/notesSlide3.xml" Id="R5483245b078f45c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8886cafb204904" /><Relationship Type="http://schemas.openxmlformats.org/officeDocument/2006/relationships/notesSlide" Target="/ppt/notesSlides/notesSlide4.xml" Id="R772f29df50604e4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42b8b21e2c4f38" /><Relationship Type="http://schemas.openxmlformats.org/officeDocument/2006/relationships/notesSlide" Target="/ppt/notesSlides/notesSlide5.xml" Id="Rf6313cfc512c4a2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525d206c1841c3" /><Relationship Type="http://schemas.openxmlformats.org/officeDocument/2006/relationships/notesSlide" Target="/ppt/notesSlides/notesSlide6.xml" Id="Rf89941d6ed254b7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af47d9909a4ab2" /><Relationship Type="http://schemas.openxmlformats.org/officeDocument/2006/relationships/notesSlide" Target="/ppt/notesSlides/notesSlide7.xml" Id="Rc9cdfb44472e466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ccec24e63f48ae" /><Relationship Type="http://schemas.openxmlformats.org/officeDocument/2006/relationships/chart" Target="/ppt/slides/charts/chart1.xml" Id="R6d1071667c2a4dbc" /><Relationship Type="http://schemas.openxmlformats.org/officeDocument/2006/relationships/notesSlide" Target="/ppt/notesSlides/notesSlide8.xml" Id="R9a8a36ec18954e6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0f9451915a41b3" /><Relationship Type="http://schemas.openxmlformats.org/officeDocument/2006/relationships/notesSlide" Target="/ppt/notesSlides/notesSlide9.xml" Id="R84de1691b430484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20585a74c545e7" /><Relationship Type="http://schemas.openxmlformats.org/officeDocument/2006/relationships/notesSlide" Target="/ppt/notesSlides/notesSlide10.xml" Id="R172a3123d3394ec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b1aed55ddb45d8" /><Relationship Type="http://schemas.openxmlformats.org/officeDocument/2006/relationships/notesSlide" Target="/ppt/notesSlides/notesSlide11.xml" Id="Re9b4b8e8ec89494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95fca2705c4c7e" /><Relationship Type="http://schemas.openxmlformats.org/officeDocument/2006/relationships/notesSlide" Target="/ppt/notesSlides/notesSlide12.xml" Id="R2fb5a021d1d04fa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5cb870a447482e" /><Relationship Type="http://schemas.openxmlformats.org/officeDocument/2006/relationships/notesSlide" Target="/ppt/notesSlides/notesSlide13.xml" Id="R46b72d825bed423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ae3c821bba4fdb" /><Relationship Type="http://schemas.openxmlformats.org/officeDocument/2006/relationships/notesSlide" Target="/ppt/notesSlides/notesSlide14.xml" Id="R74e56157e6564d4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eeaa1b07ec4d7d" /><Relationship Type="http://schemas.openxmlformats.org/officeDocument/2006/relationships/notesSlide" Target="/ppt/notesSlides/notesSlide15.xml" Id="R2ae1eb5aee2a4f3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d2f32bda394347" /><Relationship Type="http://schemas.openxmlformats.org/officeDocument/2006/relationships/notesSlide" Target="/ppt/notesSlides/notesSlide16.xml" Id="R04c76b0cb2d145d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3524fc8fa44577" /><Relationship Type="http://schemas.openxmlformats.org/officeDocument/2006/relationships/notesSlide" Target="/ppt/notesSlides/notesSlide17.xml" Id="Rf3bac9587ee34995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de349752634149" /><Relationship Type="http://schemas.openxmlformats.org/officeDocument/2006/relationships/image" Target="/ppt/media/image.jpeg" Id="R7f1d80173dda4628" /><Relationship Type="http://schemas.openxmlformats.org/officeDocument/2006/relationships/notesSlide" Target="/ppt/notesSlides/notesSlide18.xml" Id="R07ce2c45c35a4e31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c69b3826724372" /><Relationship Type="http://schemas.openxmlformats.org/officeDocument/2006/relationships/notesSlide" Target="/ppt/notesSlides/notesSlide19.xml" Id="Rd878e2b9cbb548c9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7700fba9ba41a0" /><Relationship Type="http://schemas.openxmlformats.org/officeDocument/2006/relationships/notesSlide" Target="/ppt/notesSlides/notesSlide20.xml" Id="R2771e731d3b94862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6283d4a21544aa" /><Relationship Type="http://schemas.openxmlformats.org/officeDocument/2006/relationships/notesSlide" Target="/ppt/notesSlides/notesSlide21.xml" Id="R22d1f0e249d245aa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6115b1fe0b4377" /><Relationship Type="http://schemas.openxmlformats.org/officeDocument/2006/relationships/notesSlide" Target="/ppt/notesSlides/notesSlide22.xml" Id="R6e1ea902d49a4d13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검증 유형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3"/>
              <c:pt idx="0">
                <c:v>PIT leakage</c:v>
              </c:pt>
              <c:pt idx="1">
                <c:v>회계 invariant</c:v>
              </c:pt>
              <c:pt idx="2">
                <c:v>복구·API 계약</c:v>
              </c:pt>
            </c:strLit>
          </c:cat>
          <c:val>
            <c:numLit>
              <c:formatCode>General</c:formatCode>
              <c:ptCount val="3"/>
              <c:pt idx="0">
                <c:v>1</c:v>
              </c:pt>
              <c:pt idx="1">
                <c:v>1</c:v>
              </c:pt>
              <c:pt idx="2">
                <c:v>1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101820"/>
                  </a:solidFill>
                </a:defRPr>
              </a:pPr>
            </a:p>
          </c:txPr>
          <c:dLblPos val="outEnd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4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tickLblPos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F6872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56BA5C-4496-4ECB-83CE-93097CC5C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DATA ENGINEERING PROJECT · 2026.08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21F2BB-CFFB-440B-983A-E3584AF57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14500"/>
            <a:ext cx="9906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l">
              <a:buNone/>
              <a:defRPr sz="51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51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Arcana</a:t>
            </a:r>
          </a:p>
          <a:p xmlns:a="http://schemas.openxmlformats.org/drawingml/2006/main">
            <a:pPr algn="l">
              <a:buNone/>
              <a:defRPr sz="51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51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금융 공시 ELT &amp; Factor Research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D768BA-6384-4548-98C7-EDF1253A5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243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0182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0D3B16-0F1D-4898-85CD-B33844E6D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86300"/>
            <a:ext cx="9334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DART·SEC 공시를 PIT 데이터로 정규화해 스크리닝·백테스트까지 잇는 플랫폼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6D5B18-C9EB-4D83-9515-E6DA6DA2C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2026-08-16 저장소 기준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608AFA-ECEF-448E-9345-99D05CE68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82566659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28D6DA-C350-49FF-A061-ADC943764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1ED516-BA48-45EF-85AB-78F8CFBF0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277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35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35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공시는 숫자만 저장해서는 재현되지 않는다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8C57CB-62A0-46F6-B2DE-2B999C87A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906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F340C7-B8B1-4B8F-ABA7-77144F348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ARCANA · REPOSITORY SNAPSHOT </a:t>
            </a:r>
            <a:r>
              <a:rPr sz="825" b="1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2026-08-16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20948A-6441-49CF-992E-5C9C74B73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EA0D92-2725-409F-A4B4-2C3B3D2BB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DART와 SEC는 표현 체계가 다르고, 정정공시는 과거 값을 바꾼다. 계정명만 매핑하거나 수집일을 무시하면 분석 결과는 재현되지 않는다.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21A978-F6E2-427F-BD82-BF96A82C2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95600"/>
            <a:ext cx="3352800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68846B-1E2B-4C58-99F7-6FEFF68CA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62300"/>
            <a:ext cx="285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l">
              <a:buNone/>
              <a:defRPr sz="42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42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문맥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F5D1F3-06A0-421C-A339-803C1355E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71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같은 이름, 다른 의미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250BE6-A197-495A-8EC7-58421FAC9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29150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section·context·parent path로 의미를 복원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2282AF-9947-45BB-A964-6BFB6FB79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895600"/>
            <a:ext cx="3352800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7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2F3E20-5AE6-4F4A-9C08-AF08EA7E0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162300"/>
            <a:ext cx="285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l">
              <a:buNone/>
              <a:defRPr sz="42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42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시점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4CB507-876A-44AE-BA0C-F8B6C7195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171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공시 전 정보 차단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DFA3BD-6C22-45D2-9BC9-172681346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629150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report_date 이후에만 팩터와 백테스트에 반영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6F4551-3447-423E-9F76-42A3F26A1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895600"/>
            <a:ext cx="3352800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F62DBA-0B40-4CB5-8D17-EFDE5613E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162300"/>
            <a:ext cx="285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l">
              <a:buNone/>
              <a:defRPr sz="42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42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추적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22C25E-4B47-4CCA-BBCA-AFA4352DE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171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원문까지 역추적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446695-F7E3-4885-A44B-9B8FAB3FD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629150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접수번호·URL·SHA-256·rule version을 함께 보존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D26B6B-3B81-4517-90EF-44F4F9349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578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설계의 중심 · Canonicalization · Point-in-Time · Validation · Provenance</a:t>
            </a:r>
          </a:p>
        </p:txBody>
      </p:sp>
    </p:spTree>
    <p:extLst>
      <p:ext uri="{BB962C8B-B14F-4D97-AF65-F5344CB8AC3E}">
        <p14:creationId xmlns:p14="http://schemas.microsoft.com/office/powerpoint/2010/main" val="90270413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407DDF0-51AC-4A7D-975B-BC41BD944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SYSTEM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BA86DA-6C9E-46CF-A346-D44E58446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277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35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35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원천부터 분석까지, 다섯 경계를 분리했다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C201CF-427F-4113-96C1-A7A11B84A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906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CDE1C1-A6FE-45AE-93F2-DDC5081AB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ARCANA · REPOSITORY SNAPSHOT </a:t>
            </a:r>
            <a:r>
              <a:rPr sz="825" b="1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2026-08-16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684DA8-E6DA-49AE-AF8A-735EEC8E0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0F67AC-2BF5-4F83-AB4A-DA0B84C60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000375"/>
            <a:ext cx="5524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FB8F23-D5A9-4DDF-B8F7-D7520B6A8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000375"/>
            <a:ext cx="5524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51D767-2AB3-4A7B-B88F-0E9AF8C71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000375"/>
            <a:ext cx="5524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E829F0-2054-40B3-8E10-1053668C0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000375"/>
            <a:ext cx="5524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67DC75-6929-44AD-95A8-A6288BF68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0"/>
            <a:ext cx="198120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AD0714-E78A-49AF-B8BD-B2E061171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289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8EF889-E0B8-4D6A-8D48-7DAC44448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90850"/>
            <a:ext cx="1676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외부 원천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440D6B-6CFF-4004-A6BB-EB211FB04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95700"/>
            <a:ext cx="1676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DART · KRX · SEC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yfinance · 컨센서스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FRED · Damodaran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F9AB6A-C986-48D7-9395-9B26F4D37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476500"/>
            <a:ext cx="198120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031E09-FF2B-4A9A-89A1-CCC741BA8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6289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E68FB0-965E-467F-B216-CFFA57A9E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990850"/>
            <a:ext cx="1676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추출 / Bronze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E4CB0C-1E4C-43D8-AC26-7B098A811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695700"/>
            <a:ext cx="1676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원문·원시 JSON·CSV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다운로드 검증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source archive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1E9EC9-21F7-47DE-B87C-CC6D32544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476500"/>
            <a:ext cx="198120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895B87-CABE-4CFC-A3AE-B5DDC0720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6289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7C73507-D224-4F22-973E-29B82C49A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990850"/>
            <a:ext cx="1676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정규화 / Silver·Gold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32F06E-CB05-466D-996A-5AAED776E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695700"/>
            <a:ext cx="1676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계정 매핑·기간화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운영지표·추정치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팩터·스타일 점수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E68CB7E-EE2A-4D36-8335-523399AB3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476500"/>
            <a:ext cx="198120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A7A5E8-6EF1-4F0C-A6A3-6D3A90532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6289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8C969F6-10BF-4F36-BBC2-097340259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990850"/>
            <a:ext cx="1676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ClickHouse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EBDBFE9-0A16-4AFD-BAC7-6D9C90E67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695700"/>
            <a:ext cx="1676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증권·가격·재무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컨센서스·팩터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실험·스냅샷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543EF8D-1658-4F89-B4F3-31B02CA2E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476500"/>
            <a:ext cx="198120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7FC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96D7DB6-1858-4C88-9089-2CE9E7B13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6289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3B00533-1E6F-4ED0-80F1-A9FC997A5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990850"/>
            <a:ext cx="1676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분석 서비스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3F85E15-377B-4EF5-9732-6B7B929E1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695700"/>
            <a:ext cx="1676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FastAPI 48 라우트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같은 라우트에서 만든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MCP 48 도구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1AC47EA-6C03-41C8-ADC8-CE5C0AFBF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863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핵심 경계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9C77C2C-98E6-4650-BC36-C63D8E50E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648200"/>
            <a:ext cx="9620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파일 계층은 원천과 변환 이력을 남긴다. ClickHouse는 PIT 시계열을 계산하고, 분석 서비스는 같은 데이터 계약을 재사용한다.</a:t>
            </a:r>
          </a:p>
        </p:txBody>
      </p:sp>
    </p:spTree>
    <p:extLst>
      <p:ext uri="{BB962C8B-B14F-4D97-AF65-F5344CB8AC3E}">
        <p14:creationId xmlns:p14="http://schemas.microsoft.com/office/powerpoint/2010/main" val="2779677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A0CAF68-CD59-43FC-87CB-E1A87D10F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DATA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0F4345-37BF-4DC0-AB97-D5CA88A8C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277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35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35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원문과 공시 시점을 보존한 뒤 계산한다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3498F0-D9A0-45EA-9939-52E6F311E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906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004E80-1A8A-4B00-9040-4BA7BE40C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ARCANA · REPOSITORY SNAPSHOT </a:t>
            </a:r>
            <a:r>
              <a:rPr sz="825" b="1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2026-08-16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B70342-E5AB-49C1-AB11-3948BC1F0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6B8DDD-28BB-49D8-9FFB-3FB5F599E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781300"/>
            <a:ext cx="5524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95A3FD-45D4-4179-ABF3-4A2424AC1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781300"/>
            <a:ext cx="5524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3316E1-4711-4EFB-A86A-80A0D00E0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781300"/>
            <a:ext cx="5524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1A34DC-0002-45EF-BF7F-D03376B1A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0"/>
            <a:ext cx="2324100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D4C6F7-255C-46F1-9EF8-0E2821B11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812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BRONZE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E41310-60BE-42A7-AA0B-BE29BB40E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0035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원천 보존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5087DA-8E83-44C9-A5F1-A8B6884F0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95650"/>
            <a:ext cx="200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공급자 응답과 원시 파일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27C650-57C2-44A1-BDFC-3AE0B92A7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190750"/>
            <a:ext cx="2324100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E22484-F767-4365-8E77-1BE01DF18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3812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SILVER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FE995C-5E5F-44CC-BEE5-9B27F3061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80035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정규화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EA3430-79C1-4414-9D3B-7ECBC8AE6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295650"/>
            <a:ext cx="200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시장·공급자별 표준 CSV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C82C63-D58A-40C9-B1D3-18DBFD938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190750"/>
            <a:ext cx="2324100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E84C33-79A8-42A6-8336-B141CCE54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812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PIT / GOLD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0B26D0-3D20-43F0-BD80-E2D1442A7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0035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시점 보존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FD41C6-C0C7-4FFE-97CE-399452707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95650"/>
            <a:ext cx="200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공시일 기준 스냅샷·검증 결과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3247B6-7661-4321-B775-6AF3E98AA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190750"/>
            <a:ext cx="2324100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7FC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2C3289B-BA90-4690-B050-44FC4B65E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3812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CLICKHOUSE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80FBC73-AA3A-4E96-A5AE-391F184FE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80035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서빙·연산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CAAAE61-76A1-445C-AAFD-9AA11A0C5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295650"/>
            <a:ext cx="200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32개 논리 테이블 정의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8500D39-70EB-49D6-9760-A86FC29EF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67200"/>
            <a:ext cx="3371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D8D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1527FB4-C11C-43F7-B439-7545F6D74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38650"/>
            <a:ext cx="3371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META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528E038-40E8-4C8E-B077-D01E6ABCF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43450"/>
            <a:ext cx="3371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규칙과 스키마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204B7D3-12B5-41C6-8E10-09CB86E6A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48300"/>
            <a:ext cx="33718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CanonicalAccount · YAML 매핑·검증 정책 · SQL 스키마 · 실행 상태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A68951D-CB12-4969-B0B9-6D40CBA85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267200"/>
            <a:ext cx="3371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0182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8426165-91BE-4955-AA78-0E2825351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438650"/>
            <a:ext cx="3371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SOURCE ARCHIVE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21B09F4-A7A9-4824-B30D-D75CD698A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743450"/>
            <a:ext cx="3371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원천 변경 이력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0BB595C-E291-449F-B2CD-9EF90DE28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448300"/>
            <a:ext cx="33718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검증을 마친 이전 원천을 run_id 단위로 보존하고 manifest로 추적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D570A2F-0FAA-4715-9438-520E58FBC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267200"/>
            <a:ext cx="3371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D8DF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4113B98-9762-4E8F-BCA3-9FC711113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438650"/>
            <a:ext cx="3371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SERVING MODEL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145A78F-6CA2-4E76-AAC2-BA98F8A07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743450"/>
            <a:ext cx="3371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분석 테이블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892E697-E622-4315-9BA9-FA3F4826C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448300"/>
            <a:ext cx="33718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가격·재무·배당·컨센서스</a:t>
            </a:r>
          </a:p>
          <a:p xmlns:a="http://schemas.openxmlformats.org/drawingml/2006/main">
            <a:pPr algn="l">
              <a:buNone/>
              <a:def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팩터·스타일·팩터 랩</a:t>
            </a:r>
          </a:p>
        </p:txBody>
      </p:sp>
    </p:spTree>
    <p:extLst>
      <p:ext uri="{BB962C8B-B14F-4D97-AF65-F5344CB8AC3E}">
        <p14:creationId xmlns:p14="http://schemas.microsoft.com/office/powerpoint/2010/main" val="71542870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C960352-9084-437A-A3A0-47C84A448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NORMALIZATION CASE STUDY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461468-CBF9-4150-A7D8-08EAE52BF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277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35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35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삼성전자 사례: 매핑률보다 정합성을 본다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206CEA-3779-4B5A-BAA6-9A68C8031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52550"/>
            <a:ext cx="1085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삼성전자 005930 · 2025.12 연결 재무제표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A3EDC0-E463-4CD2-A9F7-03FBD65BF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859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9E0125-0DDB-420F-B936-964CFE727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ARCANA · REPOSITORY SNAPSHOT </a:t>
            </a:r>
            <a:r>
              <a:rPr sz="825" b="1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2026-08-16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8B76E2-3B24-4660-BCFD-49531B66B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32B240-3476-43E0-8CAF-3DFF02A60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38350"/>
            <a:ext cx="25908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960622-3BA7-46AE-800B-5BB679380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717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130 → 137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4FB728-9BF8-429E-AA81-32F4B8CFD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입력 행 → 최종 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E472DB-51AE-46E0-9993-C9FBA6EAD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038350"/>
            <a:ext cx="25908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72BA0E-26D3-40FB-BF2E-3AB61F0CE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1717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68 / 69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F170D9-1116-40D0-9F91-BECF1236A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5527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매핑 / 미매핑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D99A0D-DD51-4F6A-AC55-D5F6D1828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38350"/>
            <a:ext cx="25908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7FC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251C4B-4C38-41C9-9099-66DAE6D2D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1717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PASS · 100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AEF624-6916-4872-A613-1005371B2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5527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검증 판정 / 점수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76078D-B41F-4511-A977-D0D194749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038350"/>
            <a:ext cx="25908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D19CE6-8D7C-4EF6-A4EC-E91760EA4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1717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9/9 · 24/24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A7E1AB-C705-4635-B61B-F2272C177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5527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산식 / 팩터</a:t>
            </a:r>
          </a:p>
        </p:txBody>
      </p:sp>
      <p:graphicFrame>
        <p:nvGraphicFramePr>
          <p:cNvPr id="43" name=""/>
          <p:cNvGraphicFramePr/>
          <p:nvPr/>
        </p:nvGraphicFramePr>
        <p:xfrm>
          <a:off xmlns:a="http://schemas.openxmlformats.org/drawingml/2006/main" x="457200" y="3067050"/>
          <a:ext xmlns:a="http://schemas.openxmlformats.org/drawingml/2006/main" cx="11277600" cy="2133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71750"/>
                <a:gridCol w="2571750"/>
                <a:gridCol w="3143250"/>
                <a:gridCol w="2990850"/>
              </a:tblGrid>
              <a:tr h="304800"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원문 계정</a:t>
                      </a:r>
                    </a:p>
                  </a:txBody>
                  <a:tcPr marL="91440" marR="91440" marT="45720" marB="45720">
                    <a:solidFill>
                      <a:srgbClr val="1018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표준 계정</a:t>
                      </a:r>
                    </a:p>
                  </a:txBody>
                  <a:tcPr marL="91440" marR="91440" marT="45720" marB="45720">
                    <a:solidFill>
                      <a:srgbClr val="1018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값(원)</a:t>
                      </a:r>
                    </a:p>
                  </a:txBody>
                  <a:tcPr marL="91440" marR="91440" marT="45720" marB="45720">
                    <a:solidFill>
                      <a:srgbClr val="1018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적용 규칙</a:t>
                      </a:r>
                    </a:p>
                  </a:txBody>
                  <a:tcPr marL="91440" marR="91440" marT="45720" marB="45720">
                    <a:solidFill>
                      <a:srgbClr val="101820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0182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매출액 (주30)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10182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REVENUE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38" b="0">
                          <a:solidFill>
                            <a:srgbClr val="10182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333,605,938,000,000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0182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is_revenue</a:t>
                      </a:r>
                    </a:p>
                  </a:txBody>
                  <a:tcPr marL="91440" marR="91440" marT="45720" marB="45720"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0182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영업이익 (주30)</a:t>
                      </a:r>
                    </a:p>
                  </a:txBody>
                  <a:tcPr marL="91440" marR="91440" marT="45720" marB="45720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10182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OPERATING_INCOME</a:t>
                      </a:r>
                    </a:p>
                  </a:txBody>
                  <a:tcPr marL="91440" marR="91440" marT="45720" marB="45720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 b="0">
                          <a:solidFill>
                            <a:srgbClr val="10182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43,601,051,000,000</a:t>
                      </a:r>
                    </a:p>
                  </a:txBody>
                  <a:tcPr marL="91440" marR="91440" marT="45720" marB="45720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0182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영업이익 규칙</a:t>
                      </a:r>
                    </a:p>
                  </a:txBody>
                  <a:tcPr marL="91440" marR="91440" marT="45720" marB="45720">
                    <a:solidFill>
                      <a:srgbClr val="F6F7F8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0182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자산총계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10182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TOTAL_ASSETS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38" b="0">
                          <a:solidFill>
                            <a:srgbClr val="10182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566,942,110,000,000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0182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bs_total_assets</a:t>
                      </a:r>
                    </a:p>
                  </a:txBody>
                  <a:tcPr marL="91440" marR="91440" marT="45720" marB="45720"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0182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영업활동현금흐름</a:t>
                      </a:r>
                    </a:p>
                  </a:txBody>
                  <a:tcPr marL="91440" marR="91440" marT="45720" marB="45720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10182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CFO</a:t>
                      </a:r>
                    </a:p>
                  </a:txBody>
                  <a:tcPr marL="91440" marR="91440" marT="45720" marB="45720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 b="0">
                          <a:solidFill>
                            <a:srgbClr val="10182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85,315,148,000,000</a:t>
                      </a:r>
                    </a:p>
                  </a:txBody>
                  <a:tcPr marL="91440" marR="91440" marT="45720" marB="45720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0182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cf_cfo_plain_subtotal</a:t>
                      </a:r>
                    </a:p>
                  </a:txBody>
                  <a:tcPr marL="91440" marR="91440" marT="45720" marB="45720">
                    <a:solidFill>
                      <a:srgbClr val="F6F7F8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0182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유형자산의 취득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10182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CAPEX_PPE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38" b="0">
                          <a:solidFill>
                            <a:srgbClr val="10182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47,522,179,000,000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0182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cf_capex_ppe</a:t>
                      </a:r>
                    </a:p>
                  </a:txBody>
                  <a:tcPr marL="91440" marR="91440" marT="45720" marB="45720"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0182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기본주당이익 (단위 : 원)</a:t>
                      </a:r>
                    </a:p>
                  </a:txBody>
                  <a:tcPr marL="91440" marR="91440" marT="45720" marB="45720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10182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BASIC_EPS</a:t>
                      </a:r>
                    </a:p>
                  </a:txBody>
                  <a:tcPr marL="91440" marR="91440" marT="45720" marB="45720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 b="0">
                          <a:solidFill>
                            <a:srgbClr val="10182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6,605</a:t>
                      </a:r>
                    </a:p>
                  </a:txBody>
                  <a:tcPr marL="91440" marR="91440" marT="45720" marB="45720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0182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is_basic_eps</a:t>
                      </a:r>
                    </a:p>
                  </a:txBody>
                  <a:tcPr marL="91440" marR="91440" marT="45720" marB="45720">
                    <a:solidFill>
                      <a:srgbClr val="F6F7F8"/>
                    </a:solidFill>
                  </a:tcPr>
                </a:tc>
              </a:tr>
            </a:tbl>
          </a:graphicData>
        </a:graphic>
      </p:graphicFrame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C5B7EC-751E-4D82-9EC7-AFF8697E7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91150"/>
            <a:ext cx="112776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7A0754-3DFF-455E-8049-C2B27207C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435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해석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7035F0A-3422-4932-9E8A-DC51DAC56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48640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미매핑 69건을 곧바로 실패로 보지 않는다. 표 제목·지원하지 않는 세부 계정·오매핑을 막는 가드 행이 함께 남기 때문이다. 합격 여부는 핵심 계정, 산식, 중복, 단위를 묶어서 판정한다.</a:t>
            </a:r>
          </a:p>
        </p:txBody>
      </p:sp>
    </p:spTree>
    <p:extLst>
      <p:ext uri="{BB962C8B-B14F-4D97-AF65-F5344CB8AC3E}">
        <p14:creationId xmlns:p14="http://schemas.microsoft.com/office/powerpoint/2010/main" val="67935168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EAB9D9B-CD02-4D9C-8F23-E6E4B0FA9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REFRESH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522C9D-EEB2-42F8-B23A-20ECE9DC8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277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35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35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갱신 작업은 실패한 단계에서 다시 시작한다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7FDED8-59EC-44B9-B5AE-F2FA563F8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906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05E297-03B9-4C23-90C7-78A194AE1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ARCANA · REPOSITORY SNAPSHOT </a:t>
            </a:r>
            <a:r>
              <a:rPr sz="825" b="1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2026-08-16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02D6FF-4422-451F-BCDE-CFFBA01CA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9FD8C8-DD93-402E-B71C-066F4D1FA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0182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10BDB2-872E-4C49-95CE-E6CAA4789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0FD0C5-0492-4300-8596-79D573BC6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6C67C4-50D4-4F7C-A0F8-BCD9E8E76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43300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획득·검증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CDA37D-0FBA-45FF-8C57-83BC4A3B3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2190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원천 다운로드</a:t>
            </a:r>
          </a:p>
          <a:p xmlns:a="http://schemas.openxmlformats.org/drawingml/2006/main">
            <a:pPr algn="l">
              <a:buNone/>
              <a:def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형식과 내용 확인</a:t>
            </a:r>
          </a:p>
          <a:p xmlns:a="http://schemas.openxmlformats.org/drawingml/2006/main">
            <a:pPr algn="l">
              <a:buNone/>
              <a:def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archive/manifest 기록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C17EF0-A9D9-4F20-ADD7-09B0B659C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0480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E06340-7651-428D-AAA9-B56C0B89A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5908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E2F59F-A649-4938-A7A1-6511C0406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543300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정규화·적재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795EF6-EB3D-4239-8CFF-A39AC1630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019550"/>
            <a:ext cx="2190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Bronze → Silver/Gold</a:t>
            </a:r>
          </a:p>
          <a:p xmlns:a="http://schemas.openxmlformats.org/drawingml/2006/main">
            <a:pPr algn="l">
              <a:buNone/>
              <a:def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해당 시장 범위 교체</a:t>
            </a:r>
          </a:p>
          <a:p xmlns:a="http://schemas.openxmlformats.org/drawingml/2006/main">
            <a:pPr algn="l">
              <a:buNone/>
              <a:def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ClickHouse 적재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DB9E3C-FCF4-4C21-9481-63F1101C8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0480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75B7F7-CEAA-4504-BA6F-2CFFA89D5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5908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92798C-736F-4106-B480-931DC9E1C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543300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분석 파생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7FEF3B-DD93-4582-924E-E63F5E70E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019550"/>
            <a:ext cx="2190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운영지표·컨센서스</a:t>
            </a:r>
          </a:p>
          <a:p xmlns:a="http://schemas.openxmlformats.org/drawingml/2006/main">
            <a:pPr algn="l">
              <a:buNone/>
              <a:def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WACC/RIM·raw factor</a:t>
            </a:r>
          </a:p>
          <a:p xmlns:a="http://schemas.openxmlformats.org/drawingml/2006/main">
            <a:pPr algn="l">
              <a:buNone/>
              <a:def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snapshot 생성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136FC3-C75A-457A-95E0-28A85349A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0480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A5FAF1-06BE-45EA-A915-9FFB33F92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5908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54052C-240C-40D7-AD19-76EE79D8D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543300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증분 운영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9DB8DB-EE54-4AF6-A0AF-DCBC12700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019550"/>
            <a:ext cx="2190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완전한 거래일 선택</a:t>
            </a:r>
          </a:p>
          <a:p xmlns:a="http://schemas.openxmlformats.org/drawingml/2006/main">
            <a:pPr algn="l">
              <a:buNone/>
              <a:def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마지막 적재일 다음 날부터</a:t>
            </a:r>
          </a:p>
          <a:p xmlns:a="http://schemas.openxmlformats.org/drawingml/2006/main">
            <a:pPr algn="l">
              <a:buNone/>
              <a:def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중복 작업 축소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9B8B6E1-898A-468E-8E5A-0BC0BC407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57800"/>
            <a:ext cx="112776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C1C36FC-1B49-4402-80D4-8733B1549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483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운영 안전장치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031CC75-6317-4B77-97D1-4E7207B11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5372100"/>
            <a:ext cx="942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시장별 lock · 원자적 파일 교체 · refresh_state 서명 · --resume / --no-resume · dry-run · 99% 완전 유니버스 기준</a:t>
            </a:r>
          </a:p>
        </p:txBody>
      </p:sp>
    </p:spTree>
    <p:extLst>
      <p:ext uri="{BB962C8B-B14F-4D97-AF65-F5344CB8AC3E}">
        <p14:creationId xmlns:p14="http://schemas.microsoft.com/office/powerpoint/2010/main" val="85073014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4EB5958-3EC2-4F82-957A-CFC630751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EXPERIMENT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608023-D78F-4028-B14C-044611004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277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35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35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Factor Lab은 그래프 실험을 검증하고 백테스트한다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8C4138-0AF9-405F-AE80-706A344F3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52550"/>
            <a:ext cx="1085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35개 노드 타입은 input·arithmetic·logic·transform·temporal·score·evaluate의 7개 그룹에 속한다.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67C303-729F-4F1B-B8D8-D59F05CB5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859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35C045-FF87-407C-B826-AA87655E9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ARCANA · REPOSITORY SNAPSHOT </a:t>
            </a:r>
            <a:r>
              <a:rPr sz="825" b="1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2026-08-16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51F868-F0A3-42F3-847D-F14BE7B34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625DBD-3CCD-46A2-8EF0-6F1D278FB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0182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EE45CC-DE0E-4541-8B05-F9F9407F8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1DE235-CF24-4DF3-B229-A350250FF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98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1F85D3-3CF9-449A-B39D-DE0BB818F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43300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정의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54A255-EDD4-441F-B84A-F9D75AE20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2190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노드 타입 확인</a:t>
            </a:r>
          </a:p>
          <a:p xmlns:a="http://schemas.openxmlformats.org/drawingml/2006/main">
            <a:pPr algn="l">
              <a:buNone/>
              <a:def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그래프 저장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305B53-E49A-405E-97D0-721F791FF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0480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128B9B-5648-4BB8-BE42-F2860D976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6098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EED2EF-4895-43E9-9680-35D4C295B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543300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검증·컴파일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4322AD-4B6A-4578-848B-548D04994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000500"/>
            <a:ext cx="2190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스키마와 의존성 검사</a:t>
            </a:r>
          </a:p>
          <a:p xmlns:a="http://schemas.openxmlformats.org/drawingml/2006/main">
            <a:pPr algn="l">
              <a:buNone/>
              <a:def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graph hash 생성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AA985D-762F-4B15-A0C3-6C3E44CAD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0480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74EC94-3BF7-4692-9FF7-18B1F7723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6098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1FCD49-0389-417E-AF00-74DA2F1D3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543300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실행·캐시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99F961-2213-4C74-B5D0-CCE58363A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000500"/>
            <a:ext cx="2190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노드 값 계산</a:t>
            </a:r>
          </a:p>
          <a:p xmlns:a="http://schemas.openxmlformats.org/drawingml/2006/main">
            <a:pPr algn="l">
              <a:buNone/>
              <a:def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품질 요약·랭킹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E7BB36-E2E2-4660-A098-BA05F4AF7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0480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2212A5-3280-4357-8A91-F44B0D407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6098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6A1393-EB75-4984-A25B-CD7E66123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543300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검토·백테스트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4417E9B-1B8D-4853-A42D-EB68152DE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000500"/>
            <a:ext cx="2190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노드와 최종 결과 미리보기</a:t>
            </a:r>
          </a:p>
          <a:p xmlns:a="http://schemas.openxmlformats.org/drawingml/2006/main">
            <a:pPr algn="l">
              <a:buNone/>
              <a:def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리밸런싱·비용·벤치마크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A5E1CB6-6C13-4D40-9573-23D9D4449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81600"/>
            <a:ext cx="112776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A74A29D-5B4A-47D3-A61F-306C79B99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911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재현성 장치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427C016-9B6A-4A96-B699-D455EA41C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295900"/>
            <a:ext cx="9467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experiment / run / node_cache / factor_values 테이블 · 완료 상태 검증 · point-in-time snapshot 우선 · 거래비용 반영</a:t>
            </a:r>
          </a:p>
        </p:txBody>
      </p:sp>
    </p:spTree>
    <p:extLst>
      <p:ext uri="{BB962C8B-B14F-4D97-AF65-F5344CB8AC3E}">
        <p14:creationId xmlns:p14="http://schemas.microsoft.com/office/powerpoint/2010/main" val="93004877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AEF667-245E-4F6B-8838-F22ECAC21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TRADE-OFFS &amp; LIMITATIONS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BB5F20-46D7-4048-BBDC-362B895D8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277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35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35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한계는 숨기지 않고, 검증 경계를 명시한다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3D920A-7CEA-4EC2-8BC8-E040D14A8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906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3CC2F6-993F-4D30-8A41-CC1FDEDAC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ARCANA · REPOSITORY SNAPSHOT </a:t>
            </a:r>
            <a:r>
              <a:rPr sz="825" b="1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2026-08-16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ED9CB6-C4D1-4B7A-A793-14BA1B583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  <p:graphicFrame>
        <p:nvGraphicFramePr>
          <p:cNvPr id="23" name="Chart"/>
          <p:cNvGraphicFramePr/>
          <p:nvPr/>
        </p:nvGraphicFramePr>
        <p:xfrm>
          <a:off xmlns:a="http://schemas.openxmlformats.org/drawingml/2006/main" x="457200" y="1962150"/>
          <a:ext xmlns:a="http://schemas.openxmlformats.org/drawingml/2006/main" cx="6191250" cy="32766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d1071667c2a4dbc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5C8A15-DDC5-4024-8057-1E23BE3B8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PIT leakage · invariant · recovery/API contract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2ECD60-3854-4FC7-B5F0-2C9B93FED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943100"/>
            <a:ext cx="4343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D8D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96D53C-14EA-4F13-A5BC-0808F2E3E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114550"/>
            <a:ext cx="434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검증 자산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6738B1-6BF3-47EC-A1B7-5EF7ABC40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419350"/>
            <a:ext cx="4343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580 test definitions · 56 files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854F31-2935-4664-B6C2-3D30EE3A3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124200"/>
            <a:ext cx="4343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PIT leakage · mapping/invariant · refresh recovery · API contract · regression을 다룬다.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279755-5ECF-4C6E-B344-0E067FCA3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848100"/>
            <a:ext cx="4343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0182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3BCA73-A46C-49C1-9338-7AAA1EB39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019550"/>
            <a:ext cx="434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2026-08-16 LOCAL RUN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4EC010-3083-4FDD-B590-B76720803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324350"/>
            <a:ext cx="4343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578 passed · 2 failed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C8D853-1F08-44A2-AA2A-ABC515705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029200"/>
            <a:ext cx="4343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US consensus stale TTL 미정 · Equity Duration는 KR만 지원 · DART throttling과 MCP 직렬화 회귀 2건이 남아 있다.</a:t>
            </a:r>
          </a:p>
        </p:txBody>
      </p:sp>
    </p:spTree>
    <p:extLst>
      <p:ext uri="{BB962C8B-B14F-4D97-AF65-F5344CB8AC3E}">
        <p14:creationId xmlns:p14="http://schemas.microsoft.com/office/powerpoint/2010/main" val="196435395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C4DD118-F4E1-41FA-B344-D8D182D24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APPENDIX · REPOSITORY 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70FCD9-B49C-433B-9696-8F03E8971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277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35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35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폴더 이름만 봐도 각 영역의 책임이 드러난다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E13D7F-666C-449C-B232-8B50D0F2F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906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EE3F52-F74C-4946-A6E1-FBB552829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ARCANA · REPOSITORY SNAPSHOT </a:t>
            </a:r>
            <a:r>
              <a:rPr sz="825" b="1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2026-08-16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D12665-0074-4083-A983-E2279F719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CD886D-6229-4948-A828-01AA1CC71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38300"/>
            <a:ext cx="112776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19780B-6772-42CB-B575-F686A659B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33550"/>
            <a:ext cx="228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engine/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7F8D95-C431-4FA1-8400-9666ADBD6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73355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ELT와 계산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159416-8A4D-4D70-825A-0CE54E834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33550"/>
            <a:ext cx="533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core · markets · extractors · transformers · loaders · workflows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DEEB9C-5E20-46DC-B9FE-7EE0E9070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9B37DE-C96B-43C7-B888-2934FE8BF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05100"/>
            <a:ext cx="228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api/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C64883-2F14-4BD5-A83E-6BB30B21B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70510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분석 서비스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D27C12-AEFC-46EF-9250-ADE41FE68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705100"/>
            <a:ext cx="533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controller · service · repository · model · config · MCP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B8157F-2ABB-4120-B6D6-B5DEF878A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480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941BA0-4BC3-486A-9179-167D06580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81400"/>
            <a:ext cx="112776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D0A6EE-E6AC-4416-B74E-246C1684E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76650"/>
            <a:ext cx="228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data-lake/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0F1A97-8870-4595-9078-1D1D75AD7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67665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파일 데이터 계층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F9F379-C995-4601-BF24-532CB341E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76650"/>
            <a:ext cx="533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bronze · silver · gold · meta · source-archive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07915F-AEDC-4459-A910-A7247750E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196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E36D78-4FC0-4E18-89F2-57023D231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48200"/>
            <a:ext cx="228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tests/ · scripts/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3768EBC-EA41-4D90-917D-8C6807730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64820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검증과 운영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95D5B8-AF68-434D-B33F-6446A4C83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48200"/>
            <a:ext cx="533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단위·통합 테스트와 커버리지·최적화·갱신 스크립트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0DF7F75-A66E-4325-B560-52FB9DE05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911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7E9A32-6DC7-4E17-82CA-08DD14885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721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외부 코드는 공개 모듈을 import한다. 구체적인 구현은 _internal 아래에 둔다.</a:t>
            </a:r>
          </a:p>
        </p:txBody>
      </p:sp>
    </p:spTree>
    <p:extLst>
      <p:ext uri="{BB962C8B-B14F-4D97-AF65-F5344CB8AC3E}">
        <p14:creationId xmlns:p14="http://schemas.microsoft.com/office/powerpoint/2010/main" val="56265377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684C0E7-5F1D-492F-802C-CFBB348D9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ENGINE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22FC5B-F3A3-421E-B596-AE88306BB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277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35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35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Engine은 수집·변환·적재·실행 책임을 나눈다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6D4FBA-68A2-42DE-8CC1-25D1A1F65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906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E53136-CE50-4453-BAE0-4EBDC4C72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ARCANA · REPOSITORY SNAPSHOT </a:t>
            </a:r>
            <a:r>
              <a:rPr sz="825" b="1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2026-08-16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9EAC28-B1E7-4B29-A9D2-DF0F1CE27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8C66D0-9978-4AA1-B309-D25970FE6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24050"/>
            <a:ext cx="20574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3DA0B2-DB52-49F7-A09D-6F7CE4CEF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9BE3B0-919E-4A58-8F51-A0DC5480F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90800"/>
            <a:ext cx="1714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Core + Markets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8551FF-BB89-44C8-AE90-3544D5E7E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33750"/>
            <a:ext cx="171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EEC6A9-5B7A-4959-8235-DA6B276B6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62350"/>
            <a:ext cx="1714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공통 경로·식별자</a:t>
            </a:r>
          </a:p>
          <a:p xmlns:a="http://schemas.openxmlformats.org/drawingml/2006/main">
            <a:pPr algn="l">
              <a:buNone/>
              <a:def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시장별 심볼·통화</a:t>
            </a:r>
          </a:p>
          <a:p xmlns:a="http://schemas.openxmlformats.org/drawingml/2006/main">
            <a:pPr algn="l">
              <a:buNone/>
              <a:def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시간대·ClickHouse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EEDCE3-B5AA-4821-9857-6A3C2034C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1924050"/>
            <a:ext cx="20574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CA5EB3-52C5-4F57-8744-573663BC6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1145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042FD6-7651-49B9-A1F5-ABE09F7AB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590800"/>
            <a:ext cx="1714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Extractors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BC0227-5351-40ED-A0F6-79F7AFB78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333750"/>
            <a:ext cx="171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CC03AE-C3C8-4213-A460-68C265FC4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562350"/>
            <a:ext cx="1714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DART·KRX·SEC</a:t>
            </a:r>
          </a:p>
          <a:p xmlns:a="http://schemas.openxmlformats.org/drawingml/2006/main">
            <a:pPr algn="l">
              <a:buNone/>
              <a:def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시장가격·컨센서스</a:t>
            </a:r>
          </a:p>
          <a:p xmlns:a="http://schemas.openxmlformats.org/drawingml/2006/main">
            <a:pPr algn="l">
              <a:buNone/>
              <a:def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공급자별 원천 수집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BF671C-964E-4AE0-AF93-DEA5BDF3C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24050"/>
            <a:ext cx="20574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FBF284-C8DD-43E7-B8E8-DC898798A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1145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6664B8-0A75-4DC5-B244-DB94BBB45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590800"/>
            <a:ext cx="1714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Transformers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EFF697-74E3-4AE2-9A7E-AEDBC6599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333750"/>
            <a:ext cx="171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836183-B1EE-489E-9AC5-6315889AD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562350"/>
            <a:ext cx="1714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정규화·기간화</a:t>
            </a:r>
          </a:p>
          <a:p xmlns:a="http://schemas.openxmlformats.org/drawingml/2006/main">
            <a:pPr algn="l">
              <a:buNone/>
              <a:def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팩터·스타일 점수</a:t>
            </a:r>
          </a:p>
          <a:p xmlns:a="http://schemas.openxmlformats.org/drawingml/2006/main">
            <a:pPr algn="l">
              <a:buNone/>
              <a:def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WACC·RIM 검증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962BD8-BE79-4A4D-878A-6E887B5DD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924050"/>
            <a:ext cx="20574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F990DB-4A5E-428C-A4FD-DFF98F6EC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1145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6E5E35C-B472-4AE4-853F-8DD533FD7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590800"/>
            <a:ext cx="1714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Loaders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E03D558-5B75-4CB2-A150-BB44B3AE9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333750"/>
            <a:ext cx="171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3C362A3-4141-4BFE-B2D8-2996EE61B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562350"/>
            <a:ext cx="1714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Silver/Gold 변환</a:t>
            </a:r>
          </a:p>
          <a:p xmlns:a="http://schemas.openxmlformats.org/drawingml/2006/main">
            <a:pPr algn="l">
              <a:buNone/>
              <a:def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파티션 교체</a:t>
            </a:r>
          </a:p>
          <a:p xmlns:a="http://schemas.openxmlformats.org/drawingml/2006/main">
            <a:pPr algn="l">
              <a:buNone/>
              <a:def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ClickHouse 증분 적재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D5A543D-F96D-4F0A-82FB-69D97949C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924050"/>
            <a:ext cx="20574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7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E279B5D-84A9-41AF-A7CA-123AC8AAB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1145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6293852-ECA6-4BCF-93E1-CCC5E5625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590800"/>
            <a:ext cx="1714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Workflows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D51446B-AD03-4E1F-BAA1-F0F15C514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333750"/>
            <a:ext cx="171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EC9A806-C14B-4251-AE53-4A89B45DE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562350"/>
            <a:ext cx="1714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CLI 단위 실행</a:t>
            </a:r>
          </a:p>
          <a:p xmlns:a="http://schemas.openxmlformats.org/drawingml/2006/main">
            <a:pPr algn="l">
              <a:buNone/>
              <a:def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시장·대상·기간 관리</a:t>
            </a:r>
          </a:p>
          <a:p xmlns:a="http://schemas.openxmlformats.org/drawingml/2006/main">
            <a:pPr algn="l">
              <a:buNone/>
              <a:def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재개 상태 추적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D4EC40F-C8A4-41FB-A4E9-4B9B79E4B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197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외부 코드는 public 모듈만 사용한다. 세부 구현은 _internal에 격리한다.</a:t>
            </a:r>
          </a:p>
        </p:txBody>
      </p:sp>
    </p:spTree>
    <p:extLst>
      <p:ext uri="{BB962C8B-B14F-4D97-AF65-F5344CB8AC3E}">
        <p14:creationId xmlns:p14="http://schemas.microsoft.com/office/powerpoint/2010/main" val="110978835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CFDCF8-22B4-4A22-964F-1E1761737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MARKET COVERAGE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AB743D-743C-4B9C-A535-854B821E9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277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35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35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KR과 US의 차이는 수집기와 규칙에서 처리한다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9F6371-084D-4643-B17D-872D663FA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52550"/>
            <a:ext cx="1085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공급자와 식별자, 시간대는 다르다. 정규화를 마치면 두 시장 모두 같은 ELT 계약과 출력 모델을 따른다.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0002AC-AD31-4381-9521-5A4E84CBB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859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23534C-4ADB-4A58-A18A-E61F09392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ARCANA · REPOSITORY SNAPSHOT </a:t>
            </a:r>
            <a:r>
              <a:rPr sz="825" b="1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2026-08-16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003596-8880-45E6-BFF6-147EBE381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457200" y="2038350"/>
          <a:ext xmlns:a="http://schemas.openxmlformats.org/drawingml/2006/main" cx="11277600" cy="35623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00250"/>
                <a:gridCol w="4638675"/>
                <a:gridCol w="4638675"/>
              </a:tblGrid>
              <a:tr h="508907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영역</a:t>
                      </a:r>
                    </a:p>
                  </a:txBody>
                  <a:tcPr marL="91440" marR="91440" marT="45720" marB="45720">
                    <a:solidFill>
                      <a:srgbClr val="1018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한국 시장 (KR)</a:t>
                      </a:r>
                    </a:p>
                  </a:txBody>
                  <a:tcPr marL="91440" marR="91440" marT="45720" marB="45720">
                    <a:solidFill>
                      <a:srgbClr val="1018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미국 시장 (US)</a:t>
                      </a:r>
                    </a:p>
                  </a:txBody>
                  <a:tcPr marL="91440" marR="91440" marT="45720" marB="45720">
                    <a:solidFill>
                      <a:srgbClr val="101820"/>
                    </a:solidFill>
                  </a:tcPr>
                </a:tc>
              </a:tr>
              <a:tr h="508907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0182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공시·재무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0182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DART 재무제표·주석·사업보고서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0182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SEC companyfacts·filings</a:t>
                      </a:r>
                    </a:p>
                  </a:txBody>
                  <a:tcPr marL="91440" marR="91440" marT="45720" marB="45720"/>
                </a:tc>
              </a:tr>
              <a:tr h="508907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0182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시장 데이터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0182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KRX 가격·주식수·벤치마크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0182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yfinance 가격·배당·시장 유니버스</a:t>
                      </a:r>
                    </a:p>
                  </a:txBody>
                  <a:tcPr marL="91440" marR="91440" marT="45720" marB="45720"/>
                </a:tc>
              </a:tr>
              <a:tr h="508907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0182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컨센서스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0182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한경 컨센서스·실제 리포트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0182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FMP·Alpha Vantage·Yahoo Finance</a:t>
                      </a:r>
                    </a:p>
                  </a:txBody>
                  <a:tcPr marL="91440" marR="91440" marT="45720" marB="45720"/>
                </a:tc>
              </a:tr>
              <a:tr h="508907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0182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리스크 입력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0182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BOK·KR 벤치마크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0182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FRED·Damodaran·S&amp;P 500</a:t>
                      </a:r>
                    </a:p>
                  </a:txBody>
                  <a:tcPr marL="91440" marR="91440" marT="45720" marB="45720"/>
                </a:tc>
              </a:tr>
              <a:tr h="508907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0182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식별 규칙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0182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6자리 코드·KRW·Asia/Seoul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0182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대문자 티커·USD·America/New_York</a:t>
                      </a:r>
                    </a:p>
                  </a:txBody>
                  <a:tcPr marL="91440" marR="91440" marT="45720" marB="45720"/>
                </a:tc>
              </a:tr>
              <a:tr h="508907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0182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공통 산출물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0182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Canonical statements · factors · snapshots · style scores · API DTO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0182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Canonical statements · factors · snapshots · style scores · API DTO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7910631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7162857-21B1-4757-B986-5CFC2C5E1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DART PARSING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752753-A18E-4584-A077-FEBF83417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277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35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35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HTML 표를 행 단위 레코드로 푼다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2B3499-CE79-4792-B302-8F78AD5A9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906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4AE523-0364-4C22-AD3C-48D9BFC54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ARCANA · REPOSITORY SNAPSHOT </a:t>
            </a:r>
            <a:r>
              <a:rPr sz="825" b="1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2026-08-16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C9E672-8AD2-4FF5-8B83-62F01318E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3508BC-0D1B-4996-B4B3-9D4480A24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90700"/>
            <a:ext cx="259080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7FC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DC8BEB-9B24-46AE-8263-A4F57264F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812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B151D3-0AAD-48CC-A66E-64225672B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00300"/>
            <a:ext cx="2247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제목 판별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562D9C-5007-4D14-A424-B0FEFFE4D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33700"/>
            <a:ext cx="2247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5AB36A-D808-4378-B7D4-8B3D913F6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43250"/>
            <a:ext cx="22479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p와 비테두리 표에서 제목 탐색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주석·자본변동표 제외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CIS를 IS보다 먼저 판별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BAD83B-9468-4AA5-82D2-E9D1D9268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790700"/>
            <a:ext cx="259080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054E4C-4987-4DB6-9A94-1097E639E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9812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77CCEE-B7CF-4CF9-AFE2-CB36EC68D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400300"/>
            <a:ext cx="2247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본문 표 연결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A2EBE0-CD3C-40B8-A92E-57CAF0AFD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933700"/>
            <a:ext cx="2247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BECEE5-E615-48A4-A4B1-1D3EB13AB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143250"/>
            <a:ext cx="22479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제목 다음 border=1 표 선택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주변 문구도 단위 판정에 사용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같은 표는 한 번만 처리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EE6136-6A20-4E0D-83A5-8F5EAD0C3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90700"/>
            <a:ext cx="259080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DE85EA-0812-4638-B110-79F11809A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812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48223E-F4B5-429B-A018-0117C66DF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400300"/>
            <a:ext cx="2247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금액·단위 해석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87390A-C5AF-4BFD-AFED-11A6C7170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933700"/>
            <a:ext cx="2247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FB96EC-EADF-492F-A8AC-E1E1070AA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143250"/>
            <a:ext cx="22479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빈칸·대시는 0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괄호·△·▲·−는 음수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EPS는 단위 배수 미적용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1DAFFA8-93DB-40FE-BE25-659568DB4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790700"/>
            <a:ext cx="259080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1C00E4-28A3-43C2-B5FF-49950D952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9812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4DC4E65-3BA1-4AB3-8E8E-FDB9D7840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400300"/>
            <a:ext cx="2247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행 구조 기록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9105971-00FD-459D-9D18-FF174FE93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933700"/>
            <a:ext cx="2247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5C17D2A-44B4-4902-9DC0-77B68A264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143250"/>
            <a:ext cx="22479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원문명·매칭명·금액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들여쓰기·자식 행 여부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재무제표 종류·표 번호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9838CF8-17F5-408F-BA29-87DC45A6A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62500"/>
            <a:ext cx="112776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1618558-B6EE-4646-81F3-69B36D083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7205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D0EDF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D0EDFA"/>
                </a:solidFill>
                <a:latin typeface="Malgun Gothic"/>
                <a:ea typeface="Malgun Gothic"/>
                <a:cs typeface="Malgun Gothic"/>
              </a:rPr>
              <a:t>파서의 기준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A8326E1-1668-4C4E-9E4C-F0487D4FB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914900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값을 ‘잘 추정하는 것’보다 원문 구조를 잃지 않고 다음 단계에 넘기는 데 가깝다.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0A8C4AC-7E4A-447C-B68B-5D5216EB6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429250"/>
            <a:ext cx="923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D0EDFA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D0EDFA"/>
                </a:solidFill>
                <a:latin typeface="Consolas"/>
                <a:ea typeface="Consolas"/>
                <a:cs typeface="Consolas"/>
              </a:rPr>
              <a:t>출력 필드: original_account_name · normalized_name · statement_type · amount · indent · has_children · table_index</a:t>
            </a:r>
          </a:p>
        </p:txBody>
      </p:sp>
    </p:spTree>
    <p:extLst>
      <p:ext uri="{BB962C8B-B14F-4D97-AF65-F5344CB8AC3E}">
        <p14:creationId xmlns:p14="http://schemas.microsoft.com/office/powerpoint/2010/main" val="197258007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587933-3C6D-4A2F-8919-8ED541BE1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MATCHING CONTEXT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45C5EA-C683-4123-9376-22DC3C9DF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277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35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35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원문은 남기고, 매칭용 이름만 정리한다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FB8D7A-B71B-4E06-A37E-EC15D5E7E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906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882C76-829B-4436-BCE6-E9415BD75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ARCANA · REPOSITORY SNAPSHOT </a:t>
            </a:r>
            <a:r>
              <a:rPr sz="825" b="1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2026-08-16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F080CC-F36C-47BF-95E3-1F556ACAD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99D8CA-4499-4107-A996-18A0106AF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145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계정명 변환</a:t>
            </a:r>
          </a:p>
        </p:txBody>
      </p:sp>
      <p:graphicFrame>
        <p:nvGraphicFramePr>
          <p:cNvPr id="29" name=""/>
          <p:cNvGraphicFramePr/>
          <p:nvPr/>
        </p:nvGraphicFramePr>
        <p:xfrm>
          <a:off xmlns:a="http://schemas.openxmlformats.org/drawingml/2006/main" x="457200" y="2038350"/>
          <a:ext xmlns:a="http://schemas.openxmlformats.org/drawingml/2006/main" cx="5334000" cy="2095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2190750"/>
              </a:tblGrid>
              <a:tr h="52387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원문 계정명</a:t>
                      </a:r>
                    </a:p>
                  </a:txBody>
                  <a:tcPr marL="91440" marR="91440" marT="45720" marB="45720">
                    <a:solidFill>
                      <a:srgbClr val="1018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매칭용 이름</a:t>
                      </a:r>
                    </a:p>
                  </a:txBody>
                  <a:tcPr marL="91440" marR="91440" marT="45720" marB="45720">
                    <a:solidFill>
                      <a:srgbClr val="101820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182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매출액 (주30)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0182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매출액</a:t>
                      </a:r>
                    </a:p>
                  </a:txBody>
                  <a:tcPr marL="91440" marR="91440" marT="45720" marB="45720"/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182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Ⅰ. 유동자산</a:t>
                      </a:r>
                    </a:p>
                  </a:txBody>
                  <a:tcPr marL="91440" marR="91440" marT="45720" marB="45720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0182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유동자산</a:t>
                      </a:r>
                    </a:p>
                  </a:txBody>
                  <a:tcPr marL="91440" marR="91440" marT="45720" marB="45720">
                    <a:solidFill>
                      <a:srgbClr val="F6F7F8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182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기본주당이익 (단위 : 원)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0182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기본주당이익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3EA65D-8776-48CD-8806-41E71A4A4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7145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문맥 스택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D86822-FB9E-4EA1-9769-A1815C9C8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038350"/>
            <a:ext cx="54864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F41997-CDE6-4F0C-91BA-CD79B5117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26695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당기순이익의 귀속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F77A14-68B4-48EB-88E7-3C8EE6BAE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30505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금액 0 · 자식 행 있음 → PUSH_CONTEXT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FACFAD-5D97-4852-898A-40461536B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76225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7BDED1-82D0-46E6-A4D3-725E025E1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0099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└ 지배기업 소유주지분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81F76E-6FBA-4F13-AB49-12BA7055F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46710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F6872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5F6872"/>
                </a:solidFill>
                <a:latin typeface="Consolas"/>
                <a:ea typeface="Consolas"/>
                <a:cs typeface="Consolas"/>
              </a:rPr>
              <a:t>parent_context: 당기순이익의귀속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995F16-DAFE-4875-AA66-F4E1B578F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14850"/>
            <a:ext cx="112776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7FC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34A4F7-8D2E-422D-97C5-23404E6FC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244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보존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FEAED8-FCFB-4979-998E-AA8E03BE8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68630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original_account_name은 출력과 추적을 위해 손대지 않는다.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B2010E-A437-45FA-895D-8F4792349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7244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정리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249CAD-26C4-48AF-B8D5-DE43856F8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686300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normalized_name에서만 주석 번호·단위·번호·장식·구분자·합계 접미사를 걷어낸다.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F983BCE-54A9-49D0-A003-9FB551297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53050"/>
            <a:ext cx="1085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38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238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들여쓰기와 padding-left로 계층을 복원하고, 재무제표와 표가 바뀔 때마다 문맥 스택을 새로 만든다. 단순 합계 행은 문맥으로 올리지 않는다.</a:t>
            </a:r>
          </a:p>
        </p:txBody>
      </p:sp>
    </p:spTree>
    <p:extLst>
      <p:ext uri="{BB962C8B-B14F-4D97-AF65-F5344CB8AC3E}">
        <p14:creationId xmlns:p14="http://schemas.microsoft.com/office/powerpoint/2010/main" val="2436063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5C3B1E8-26B2-4D8F-B50A-437FB12FD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RULE ENGINE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F0DE47-8FDA-4EC2-8B3C-313E87D50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277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35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35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YAML은 우선순위·문맥·구조로 첫 일치를 고른다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2CC7EE-A02E-4FE6-BBDB-2C7B43D41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906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606202-0928-49F5-BE07-EE895EFF6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ARCANA · REPOSITORY SNAPSHOT </a:t>
            </a:r>
            <a:r>
              <a:rPr sz="825" b="1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2026-08-16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D74F0E-51AC-4647-9D34-0018CCB1F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0490AF-50BC-4B45-B3CC-799D3CB40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52600"/>
            <a:ext cx="4762500" cy="3676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8B2CF2-B9C8-43FD-B977-EF7ADDFB6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431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D0EDFA"/>
                </a:solidFill>
                <a:latin typeface="Consolas"/>
                <a:ea typeface="Consolas"/>
                <a:cs typeface="Consolas"/>
              </a:defRPr>
            </a:pPr>
            <a:r>
              <a:rPr sz="1050" b="1">
                <a:solidFill>
                  <a:srgbClr val="D0EDFA"/>
                </a:solidFill>
                <a:latin typeface="Consolas"/>
                <a:ea typeface="Consolas"/>
                <a:cs typeface="Consolas"/>
              </a:rPr>
              <a:t>cf_capex_ppe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FE8090-1132-42F4-A887-A82818A42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81250"/>
            <a:ext cx="4362450" cy="278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- id: cf_capex_ppe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priority: 800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fs_types: [CF]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match: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exact_any: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- 유형자산의취득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- 유형자산취득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target: CAPEX_PPE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amount_policy: abs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cash_direction: outflow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4305AA-BFA3-4551-9D0E-B3B67FAE9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17526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선택 순서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4AC855-8CF6-4E6E-A7E7-81B73D558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0764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18400C-46EA-40DD-935A-BD5767FE8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14312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C7588A-7C8A-4E08-A465-19FA0A21E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05740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우선순위 내림차순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2A1707-E786-41D4-A213-FBC087D7D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3622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63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163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동률이면 파일 로드 순서 유지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1EF747-13A9-4218-8D41-A2E26C886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8575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5F1184-0C0D-4FE4-BCB4-B46339724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92417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718135-7CBF-4AF5-A9E7-A8BFDA084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8384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이름 조건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683D20-86A3-4BC2-85FC-AFBD021C0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14325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63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163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exact/include 묶음 확인, exclude는 즉시 탈락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0EC7B8-1E70-4DA3-AB85-5E99680C8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6385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E5C23B-6389-4C2E-95F5-24C58A654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70522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A094D9-EEA7-4060-870E-C09EE8DCA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61950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문맥·구조 조건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B834BB-2E44-4202-A3DB-010347832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9243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63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163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상위 문맥, 자식 행, 0·빈칸 여부 확인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D8522C-D378-4285-917F-CD403038A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4196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47EFE9E-4CCA-4823-A469-3603C12D2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48627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8B0D316-05F1-4222-9A7C-61AED715F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4005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표준 계정 가드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F6F4EE7-3760-42B3-8FEB-E9580CAB1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70535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63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163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사전에 없으면 fallback, 없으면 UNMAPPED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122B7A6-E159-46B4-8738-1AEB37CDC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19750"/>
            <a:ext cx="11277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7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AF11E6C-3372-42AD-A33B-2AB49930E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5310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KR 로드 순서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368AA51-4118-4EFD-BAA6-7F8891B76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57150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01820"/>
                </a:solidFill>
                <a:latin typeface="Consolas"/>
                <a:ea typeface="Consolas"/>
                <a:cs typeface="Consolas"/>
              </a:defRPr>
            </a:pPr>
            <a:r>
              <a:rPr sz="1200" b="1">
                <a:solidFill>
                  <a:srgbClr val="101820"/>
                </a:solidFill>
                <a:latin typeface="Consolas"/>
                <a:ea typeface="Consolas"/>
                <a:cs typeface="Consolas"/>
              </a:rPr>
              <a:t>kr_mapping.yaml → mapping_kr.yaml → mapping_common.yaml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B0C7FC6-4E9A-4A59-B9CB-731C28E9F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5715000"/>
            <a:ext cx="472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376개 항목 · 고유 규칙 ID 122개 · 대상 표준 계정 91개</a:t>
            </a:r>
          </a:p>
        </p:txBody>
      </p:sp>
    </p:spTree>
    <p:extLst>
      <p:ext uri="{BB962C8B-B14F-4D97-AF65-F5344CB8AC3E}">
        <p14:creationId xmlns:p14="http://schemas.microsoft.com/office/powerpoint/2010/main" val="128958244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97E2AE4-2EF5-4818-9947-5F1FBD548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SIGN POLICY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33A638-F84B-4D25-8C9D-69D7592DB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277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35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35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금액 부호와 현금 방향은 따로 결정한다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4688AD-7968-47A4-AF36-7F7B1ABA5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906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14AE68-22F5-4C80-8D0F-C525F48D8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ARCANA · REPOSITORY SNAPSHOT </a:t>
            </a:r>
            <a:r>
              <a:rPr sz="825" b="1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2026-08-16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51AE6C-5BE5-42BD-A8A5-6B97AEBC9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1B666E-1E5F-43F6-84D4-E5E25AA99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145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금액 정책 우선순위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70BED5-7FA4-467A-9DD4-0F14754A8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228850"/>
            <a:ext cx="3429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3056B6-777E-4841-91AD-0B3B8BFD0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00250"/>
            <a:ext cx="1200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7FC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AE1F81-B298-46DB-90F0-BB5034182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098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개별 규칙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B77FB7-A396-4DEC-AF7D-74CA8334C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228850"/>
            <a:ext cx="3429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752FBE-3D5D-4CD9-94EC-FFCD4757D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000250"/>
            <a:ext cx="1200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516DB1-C94E-456B-9D0A-0197B4C22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2098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표준 계정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BDEAAB-AD50-4387-9227-CDED0448F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228850"/>
            <a:ext cx="3429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030DFB-44DB-4FA7-97A3-FD7B96E5D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000250"/>
            <a:ext cx="1200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334777-71C1-46B0-A051-D49D4A61E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2098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재무제표 기본값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3B45FD-A4D0-47E1-8E71-0F6D1941E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000250"/>
            <a:ext cx="1200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24F3CC-FECE-45BB-8E42-4F35C9860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2098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원문 유지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1DC477-50D5-44C5-8B8B-C0C9F4F0E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752600"/>
            <a:ext cx="50101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19128F-E046-48A9-B7A8-AB958C33A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9431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D0EDF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D0EDFA"/>
                </a:solidFill>
                <a:latin typeface="Malgun Gothic"/>
                <a:ea typeface="Malgun Gothic"/>
                <a:cs typeface="Malgun Gothic"/>
              </a:rPr>
              <a:t>CAPEX_PPE 실제 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285690-061B-4CBE-B5CC-3946D5DA3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26695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표시  +47,522,179,000,000원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61B5F8-5571-4AA1-9302-36D6D61EE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571750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D0EDF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D0EDFA"/>
                </a:solidFill>
                <a:latin typeface="Malgun Gothic"/>
                <a:ea typeface="Malgun Gothic"/>
                <a:cs typeface="Malgun Gothic"/>
              </a:rPr>
              <a:t>현금 효과  −47,522,179,000,000원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43DF41-A180-440D-921D-0820F36FA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432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후처리에서 정리하는 충돌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EC6E59E-7901-411D-ACE7-0C3345F02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86150"/>
            <a:ext cx="5334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D1B5FC7-7066-4D6C-9ECC-52FBEABA4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576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중복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128070A-1A80-4C66-8B19-9FEAECC35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619500"/>
            <a:ext cx="3638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0원 소계보다 실제 값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부모보다 리프, 얕은 행보다 깊은 행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A774673-1610-4B7E-9781-E73DDDF93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486150"/>
            <a:ext cx="5334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A7D074F-A498-4A72-B9E1-5873B618E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6576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IS / CIS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234CDED-6EB0-4FF4-9307-1AD489357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619500"/>
            <a:ext cx="3638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같은 손익 계정은 IS 우선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OCI·총포괄손익은 CIS 유지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579A5EF-6EEA-4FAD-B461-C5855FD98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86300"/>
            <a:ext cx="5334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029D963-01CF-49EB-97BD-FDE7001F6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577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주석 보강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4BEFCC6-2582-43B3-B870-F88416EDC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819650"/>
            <a:ext cx="3638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본문에 없는 표준 계정만 채움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기존 값을 덮어쓰지 않음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3E38404-3478-4846-A384-AB023DDF6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86300"/>
            <a:ext cx="5334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7FC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EDDF642-9D4E-42D2-80E8-32813F54D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8577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단위 보정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9F9A332-0A8A-4771-801B-C7E13810A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819650"/>
            <a:ext cx="3638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100배 초과 → 보정 뒤 10배 이내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지지 3행 이상·비교 행 25% 이상</a:t>
            </a:r>
          </a:p>
        </p:txBody>
      </p:sp>
    </p:spTree>
    <p:extLst>
      <p:ext uri="{BB962C8B-B14F-4D97-AF65-F5344CB8AC3E}">
        <p14:creationId xmlns:p14="http://schemas.microsoft.com/office/powerpoint/2010/main" val="75914361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6101BC1-AD59-4633-944E-564CF250D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VALIDATION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2A88E2-E50A-4752-AD22-C005CFB04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277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35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35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매핑률은 관찰값이고, 합격은 정합성으로 정한다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EAAAF2-C7B9-42D6-BBC8-6BF1B4464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906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DD060A-780F-4860-A431-FCA42CDCE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ARCANA · REPOSITORY SNAPSHOT </a:t>
            </a:r>
            <a:r>
              <a:rPr sz="825" b="1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2026-08-16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67E8B9-3F43-4A09-A386-C24917AE5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46FB53-BDAB-4823-BECA-ECADE8DB0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52600"/>
            <a:ext cx="316230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4977F6-665A-43DB-A166-758B02BDF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19300"/>
            <a:ext cx="2743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39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49.64%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C6FDEA-C9D7-43CD-A6B3-C51B3FEF6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38450"/>
            <a:ext cx="2743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매핑률 · 68 / 137행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1AFD5A-C452-4614-BFEE-4CBE8ABF0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0"/>
            <a:ext cx="2743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미매핑을 억지로 끌어오지 않은 관찰값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39DAB7-BDFC-4BC6-9BF0-B5D46BBC8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1752600"/>
            <a:ext cx="316230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7FC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90A8D7-FFD0-4986-A54B-3EDF2EA0D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019300"/>
            <a:ext cx="2743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39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100점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FF5510-7AF5-4598-BC46-A28E0EEDC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838450"/>
            <a:ext cx="2743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PASS · 경고 0 · 오류 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30E533-A327-4C3C-BD41-339FD60F4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238500"/>
            <a:ext cx="2743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핵심 계정·산식·중복·단위를 묶은 판정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A507A8-11B6-4791-AE3A-75F793482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1752600"/>
            <a:ext cx="445770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A562CC-871F-4891-AB2F-B0D897CC7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9621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D0EDF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D0EDFA"/>
                </a:solidFill>
                <a:latin typeface="Malgun Gothic"/>
                <a:ea typeface="Malgun Gothic"/>
                <a:cs typeface="Malgun Gothic"/>
              </a:rPr>
              <a:t>검산 결과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E0D806-908E-4742-91C8-F67871AF2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3241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산식 9 / 9  ·  오차 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C42EC2-CFF4-4087-9591-78FCDB532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7622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팩터 24 / 24  ·  핵심 누락 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28B63F-E07D-4118-9ED3-0DEAC3CF0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2194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D0EDF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D0EDFA"/>
                </a:solidFill>
                <a:latin typeface="Malgun Gothic"/>
                <a:ea typeface="Malgun Gothic"/>
                <a:cs typeface="Malgun Gothic"/>
              </a:rPr>
              <a:t>BS · IS · CF 필수 / 핵심 계정 7개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5B3C9B-6685-4C06-8B9F-CEDFCC36F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624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9개 산식이 확인하는 것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1E3F5C-60A1-4991-B3C8-DA247ADA2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86250"/>
            <a:ext cx="3486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590B21-752A-466D-A820-100A9805F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767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재무상태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823168-D534-43D8-981A-248C15750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38700"/>
            <a:ext cx="314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63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163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자산 = 부채 + 자본</a:t>
            </a:r>
          </a:p>
          <a:p xmlns:a="http://schemas.openxmlformats.org/drawingml/2006/main">
            <a:pPr algn="l">
              <a:buNone/>
              <a:defRPr sz="1163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163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유동·비유동 자산/부채 구성</a:t>
            </a:r>
          </a:p>
          <a:p xmlns:a="http://schemas.openxmlformats.org/drawingml/2006/main">
            <a:pPr algn="l">
              <a:buNone/>
              <a:defRPr sz="1163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163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지배·비지배 자본 귀속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EF2716C-BA9C-471A-87DA-9DE2F7175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286250"/>
            <a:ext cx="3486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E432F46-095D-4766-B8B4-1F6C2EB35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4767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손익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F8006AB-0AA7-4986-BE43-4AB2F4D90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838700"/>
            <a:ext cx="314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63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163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매출총이익 − 판관비·R&amp;D = 영업이익</a:t>
            </a:r>
          </a:p>
          <a:p xmlns:a="http://schemas.openxmlformats.org/drawingml/2006/main">
            <a:pPr algn="l">
              <a:buNone/>
              <a:defRPr sz="1163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163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법인세차감전이익 ± 세금 = 순이익</a:t>
            </a:r>
          </a:p>
          <a:p xmlns:a="http://schemas.openxmlformats.org/drawingml/2006/main">
            <a:pPr algn="l">
              <a:buNone/>
              <a:defRPr sz="1163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163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지배 + 비지배 순이익 = 순이익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7FA807F-03EE-4ABA-9E8A-504D32680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286250"/>
            <a:ext cx="3486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25BEC2D-0CCD-43EE-A2C7-2C8B67A9F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4767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현금흐름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83B3880-3DFD-4684-9FD1-6588D75E6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838700"/>
            <a:ext cx="314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63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163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CFO + CFI + CFF = 현금 증감</a:t>
            </a:r>
          </a:p>
          <a:p xmlns:a="http://schemas.openxmlformats.org/drawingml/2006/main">
            <a:pPr algn="l">
              <a:buNone/>
              <a:defRPr sz="1163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163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기초 현금 + 현금 증감 = 기말 현금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B32DD84-757A-42CB-9936-654C7A9AC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0"/>
            <a:ext cx="1104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88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088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금지 매핑: 머리글 · 중간 CFO 소계 · 포괄손익 귀속 · 부채와 자본 총계 · CF 기초/기말 현금의 BS 연결</a:t>
            </a:r>
          </a:p>
        </p:txBody>
      </p:sp>
    </p:spTree>
    <p:extLst>
      <p:ext uri="{BB962C8B-B14F-4D97-AF65-F5344CB8AC3E}">
        <p14:creationId xmlns:p14="http://schemas.microsoft.com/office/powerpoint/2010/main" val="71846005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2E5CAF-AAAA-4E7F-91DB-BD3D4B246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CROSS-MARKET NORMALIZATION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8EDD07-FC9F-47F2-AD54-2A2C6A2DA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277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35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35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한국과 미국은 같은 계정 사전으로 합류한다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5617B9-4FD4-4360-941F-79B6A5B1A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906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076242-D4BD-4872-B767-E5CB22E77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ARCANA · REPOSITORY SNAPSHOT </a:t>
            </a:r>
            <a:r>
              <a:rPr sz="825" b="1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2026-08-16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DE4A76-C76D-4924-9A50-08B1B8761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17</a:t>
            </a:r>
          </a:p>
        </p:txBody>
      </p:sp>
      <p:graphicFrame>
        <p:nvGraphicFramePr>
          <p:cNvPr id="22" name=""/>
          <p:cNvGraphicFramePr/>
          <p:nvPr/>
        </p:nvGraphicFramePr>
        <p:xfrm>
          <a:off xmlns:a="http://schemas.openxmlformats.org/drawingml/2006/main" x="457200" y="1752600"/>
          <a:ext xmlns:a="http://schemas.openxmlformats.org/drawingml/2006/main" cx="11277600" cy="3028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14500"/>
                <a:gridCol w="4781550"/>
                <a:gridCol w="4781550"/>
              </a:tblGrid>
              <a:tr h="50482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구분</a:t>
                      </a:r>
                    </a:p>
                  </a:txBody>
                  <a:tcPr marL="91440" marR="91440" marT="45720" marB="45720">
                    <a:solidFill>
                      <a:srgbClr val="1018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한국 공시</a:t>
                      </a:r>
                    </a:p>
                  </a:txBody>
                  <a:tcPr marL="91440" marR="91440" marT="45720" marB="45720">
                    <a:solidFill>
                      <a:srgbClr val="1018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미국 공시</a:t>
                      </a:r>
                    </a:p>
                  </a:txBody>
                  <a:tcPr marL="91440" marR="91440" marT="45720" marB="45720">
                    <a:solidFill>
                      <a:srgbClr val="101820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0182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원천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8" b="0">
                          <a:solidFill>
                            <a:srgbClr val="10182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DART 재무제표·주석 HTML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88" b="0">
                          <a:solidFill>
                            <a:srgbClr val="10182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SEC Companyfacts·notes·edgartools</a:t>
                      </a:r>
                    </a:p>
                  </a:txBody>
                  <a:tcPr marL="91440" marR="91440" marT="45720" marB="45720"/>
                </a:tc>
              </a:tr>
              <a:tr h="50482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0182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1차 판별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8" b="0">
                          <a:solidFill>
                            <a:srgbClr val="10182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계정명·문맥·행 구조</a:t>
                      </a:r>
                    </a:p>
                  </a:txBody>
                  <a:tcPr marL="91440" marR="91440" marT="45720" marB="45720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8" b="0">
                          <a:solidFill>
                            <a:srgbClr val="10182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XBRL 태그·레이블·네임스페이스</a:t>
                      </a:r>
                    </a:p>
                  </a:txBody>
                  <a:tcPr marL="91440" marR="91440" marT="45720" marB="45720">
                    <a:solidFill>
                      <a:srgbClr val="F6F7F8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0182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규칙 규모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8" b="0">
                          <a:solidFill>
                            <a:srgbClr val="10182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문맥 21개 · 로드 항목 376개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88" b="0">
                          <a:solidFill>
                            <a:srgbClr val="10182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Companyfacts 74 · notes 13 · fallback 16</a:t>
                      </a:r>
                    </a:p>
                  </a:txBody>
                  <a:tcPr marL="91440" marR="91440" marT="45720" marB="45720"/>
                </a:tc>
              </a:tr>
              <a:tr h="50482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0182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예외 처리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8" b="0">
                          <a:solidFill>
                            <a:srgbClr val="10182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CIS/IS 중복 · 단위 보정 · 주석 보강</a:t>
                      </a:r>
                    </a:p>
                  </a:txBody>
                  <a:tcPr marL="91440" marR="91440" marT="45720" marB="45720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8" b="0">
                          <a:solidFill>
                            <a:srgbClr val="10182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10-K·10-Q 계열 · 출처 순위 · 제출일 중복 제거</a:t>
                      </a:r>
                    </a:p>
                  </a:txBody>
                  <a:tcPr marL="91440" marR="91440" marT="45720" marB="45720">
                    <a:solidFill>
                      <a:srgbClr val="F6F7F8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0182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도착점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8" b="1">
                          <a:solidFill>
                            <a:srgbClr val="10182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CanonicalAccount 92개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88" b="1">
                          <a:solidFill>
                            <a:srgbClr val="10182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CanonicalAccount 92개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82F4E0-3882-4F67-BF90-8FEB3A041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10150"/>
            <a:ext cx="5429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7FC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096F6D-1ACA-4F6D-98B9-0413BADDE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006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KR 규칙 판정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DF3E03-001F-45CD-BDA2-C3BA18D42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16255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이름 → 문맥 → 구조 → 표준 계정 가드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91C335-5331-45A0-ADAD-7DE8C15CA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54355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원문 표 구조를 남긴 채 첫 일치 규칙을 고른다.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24BEB4-D03F-4A26-A353-6F0CD38D1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010150"/>
            <a:ext cx="5429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C533FB-3428-4B4F-8D25-2D2F0A58E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2006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US 출처 판정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50C5ED-4800-43AF-B2B7-BEB831C33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16255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01820"/>
                </a:solidFill>
                <a:latin typeface="Consolas"/>
                <a:ea typeface="Consolas"/>
                <a:cs typeface="Consolas"/>
              </a:defRPr>
            </a:pPr>
            <a:r>
              <a:rPr sz="1275" b="1">
                <a:solidFill>
                  <a:srgbClr val="101820"/>
                </a:solidFill>
                <a:latin typeface="Consolas"/>
                <a:ea typeface="Consolas"/>
                <a:cs typeface="Consolas"/>
              </a:rPr>
              <a:t>primary → alternate → label → notes → edgartools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DA428C-694F-464B-821B-97F08ED47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54355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같은 등급이면 제출일과 accession이 최신인 값을 남긴다.</a:t>
            </a:r>
          </a:p>
        </p:txBody>
      </p:sp>
    </p:spTree>
    <p:extLst>
      <p:ext uri="{BB962C8B-B14F-4D97-AF65-F5344CB8AC3E}">
        <p14:creationId xmlns:p14="http://schemas.microsoft.com/office/powerpoint/2010/main" val="204357221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C7776C-B37B-4DA6-BF0B-F28E061BD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RUNTIME SCREEN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244B8A-D30A-4A20-A74F-93666644C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277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35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35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실제 API 응답은 표와 추세를 바로 그릴 수 있게 내보낸다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984512-FBAE-42AB-A049-079097AC6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906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E083F8-A14C-499F-BEB1-1C074AE4D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ARCANA · REPOSITORY SNAPSHOT </a:t>
            </a:r>
            <a:r>
              <a:rPr sz="825" b="1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2026-08-16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9BB80B-9B3B-4073-A842-3A95552E5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18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97AC15-E054-4395-93CE-4CBEFE6D2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8324850" cy="468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1d80173dda4628"/>
          <a:stretch xmlns:a="http://schemas.openxmlformats.org/drawingml/2006/main"/>
        </p:blipFill>
        <p:spPr>
          <a:xfrm xmlns:a="http://schemas.openxmlformats.org/drawingml/2006/main">
            <a:off x="558122" y="1714500"/>
            <a:ext cx="8123006" cy="45720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026A35-322C-4774-A9DC-F716EBB33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657350"/>
            <a:ext cx="2724150" cy="468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C376A9-EFFF-4DC5-96F6-D7100DAEB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8859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D0EDFA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D0EDFA"/>
                </a:solidFill>
                <a:latin typeface="Malgun Gothic"/>
                <a:ea typeface="Malgun Gothic"/>
                <a:cs typeface="Malgun Gothic"/>
              </a:rPr>
              <a:t>ACTUAL CALL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69E701-8C26-4DE2-86B5-025F9B063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209800"/>
            <a:ext cx="228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200 OK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702D2C-D106-4907-AC05-F5F312BB0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781300"/>
            <a:ext cx="2266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6515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084BF0-F9A8-483B-A524-1A8334670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009900"/>
            <a:ext cx="2266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005930 · KR · KRW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A291C7-0B31-4F58-8758-A8736EE8B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448050"/>
            <a:ext cx="22669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D0EDF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D0EDFA"/>
                </a:solidFill>
                <a:latin typeface="Malgun Gothic"/>
                <a:ea typeface="Malgun Gothic"/>
                <a:cs typeface="Malgun Gothic"/>
              </a:rPr>
              <a:t>연간 10개 열</a:t>
            </a:r>
          </a:p>
          <a:p xmlns:a="http://schemas.openxmlformats.org/drawingml/2006/main">
            <a:pPr algn="l">
              <a:buNone/>
              <a:defRPr sz="1350" b="1">
                <a:solidFill>
                  <a:srgbClr val="D0EDF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D0EDFA"/>
                </a:solidFill>
                <a:latin typeface="Malgun Gothic"/>
                <a:ea typeface="Malgun Gothic"/>
                <a:cs typeface="Malgun Gothic"/>
              </a:rPr>
              <a:t>2016–2025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9B0FCD-6A4A-40DF-8BD0-03412B71C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248150"/>
            <a:ext cx="2266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D0EDF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D0EDFA"/>
                </a:solidFill>
                <a:latin typeface="Malgun Gothic"/>
                <a:ea typeface="Malgun Gothic"/>
                <a:cs typeface="Malgun Gothic"/>
              </a:rPr>
              <a:t>최근 매출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0A9B4D-DFEA-4261-9E56-00850018B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533900"/>
            <a:ext cx="2266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333.6조원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6FC9CD-A5FF-4D7A-87D5-DFE98A25B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914900"/>
            <a:ext cx="2266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전년 대비 +10.88%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B2051B-2A88-48C1-8653-D880B745F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5314950"/>
            <a:ext cx="2266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6515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A10180-5EEE-4514-B65B-96D88C6B6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5505450"/>
            <a:ext cx="22669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D0EDF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D0EDFA"/>
                </a:solidFill>
                <a:latin typeface="Malgun Gothic"/>
                <a:ea typeface="Malgun Gothic"/>
                <a:cs typeface="Malgun Gothic"/>
              </a:rPr>
              <a:t>ClickHouse 우선</a:t>
            </a:r>
          </a:p>
          <a:p xmlns:a="http://schemas.openxmlformats.org/drawingml/2006/main">
            <a:pPr algn="l">
              <a:buNone/>
              <a:defRPr sz="1050" b="0">
                <a:solidFill>
                  <a:srgbClr val="D0EDF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D0EDFA"/>
                </a:solidFill>
                <a:latin typeface="Malgun Gothic"/>
                <a:ea typeface="Malgun Gothic"/>
                <a:cs typeface="Malgun Gothic"/>
              </a:rPr>
              <a:t>→ Silver CSV fallback</a:t>
            </a:r>
          </a:p>
          <a:p xmlns:a="http://schemas.openxmlformats.org/drawingml/2006/main">
            <a:pPr algn="l">
              <a:buNone/>
              <a:defRPr sz="1050" b="0">
                <a:solidFill>
                  <a:srgbClr val="D0EDF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D0EDFA"/>
                </a:solidFill>
                <a:latin typeface="Malgun Gothic"/>
                <a:ea typeface="Malgun Gothic"/>
                <a:cs typeface="Malgun Gothic"/>
              </a:rPr>
              <a:t>→ annual / quarter / TTM</a:t>
            </a:r>
          </a:p>
          <a:p xmlns:a="http://schemas.openxmlformats.org/drawingml/2006/main">
            <a:pPr algn="l">
              <a:buNone/>
              <a:defRPr sz="1050" b="0">
                <a:solidFill>
                  <a:srgbClr val="D0EDF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D0EDFA"/>
                </a:solidFill>
                <a:latin typeface="Malgun Gothic"/>
                <a:ea typeface="Malgun Gothic"/>
                <a:cs typeface="Malgun Gothic"/>
              </a:rPr>
              <a:t>→ FCF · 증감률 · 추세 · 통계</a:t>
            </a:r>
          </a:p>
        </p:txBody>
      </p:sp>
    </p:spTree>
    <p:extLst>
      <p:ext uri="{BB962C8B-B14F-4D97-AF65-F5344CB8AC3E}">
        <p14:creationId xmlns:p14="http://schemas.microsoft.com/office/powerpoint/2010/main" val="146433076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1A3996C-7EBC-4211-B301-8EEC46AC8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API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9DB106-5DF3-4885-9C38-A18D50163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277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35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35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REST와 MCP가 같은 서비스 코드를 호출한다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955FE3-16DD-4B46-B969-6DFEE905C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906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95F536-FCE7-4DD4-B17F-DC70151E2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ARCANA · REPOSITORY SNAPSHOT </a:t>
            </a:r>
            <a:r>
              <a:rPr sz="825" b="1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2026-08-16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1549AE-673B-48A4-BCCB-9D482F337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19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616CCB-9F8B-4ADE-8600-3637A82B9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743200"/>
            <a:ext cx="5524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D3A075-BC15-4E35-8741-570E3632C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743200"/>
            <a:ext cx="5524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8A5C35-952A-4B49-BF18-A5C3CCE99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743200"/>
            <a:ext cx="5524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36C5C4-8A82-4145-A65C-7265A7C49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52650"/>
            <a:ext cx="18478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95EBA5-6230-4D0D-BB8A-ED86E5604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19350"/>
            <a:ext cx="1543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Controller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D19388-DC18-4C64-8B52-93D50E562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90850"/>
            <a:ext cx="15430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FastAPI 라우트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입력 파라미터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HTTP 오류 처리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1F5903-C8B2-459C-B57E-3954E75DC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152650"/>
            <a:ext cx="18478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7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76FA54-0A0B-4D97-858A-5D8FCDD6D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419350"/>
            <a:ext cx="1543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Service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D724C1-3A5E-435C-9211-1ADD180E4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990850"/>
            <a:ext cx="15430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업무 규칙·DTO 조립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fallback·검증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서비스 조정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2B4AEE-F548-4497-9E5C-C62050759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152650"/>
            <a:ext cx="18478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0DA344-559F-44F1-9B3F-FDB27CD6A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419350"/>
            <a:ext cx="1543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Repository / Engine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D140E6-DBD2-43EC-B0EA-EAB6B3B78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990850"/>
            <a:ext cx="15430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ClickHouse 쿼리 생성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팩터와 시장 공통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로직 재사용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EB837E-18D9-4E0C-BA58-18296E883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152650"/>
            <a:ext cx="18478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FE36F3-3C42-46F9-A2BB-74F8B23C3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419350"/>
            <a:ext cx="1543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ClickHouse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74EDA2-83D6-4A51-811D-FF9344A24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990850"/>
            <a:ext cx="15430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시계열·스냅샷·실험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랭킹과 집계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C0BC926-2260-4280-8329-6211B8B47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248150"/>
            <a:ext cx="21336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9289DC8-A742-4229-99C6-E108865CE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4438650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D0EDF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D0EDFA"/>
                </a:solidFill>
                <a:latin typeface="Malgun Gothic"/>
                <a:ea typeface="Malgun Gothic"/>
                <a:cs typeface="Malgun Gothic"/>
              </a:rPr>
              <a:t>MCP adapter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26EF573-77C5-4494-8356-FC1FF25A8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4857750"/>
            <a:ext cx="1714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라우트 자동 변환</a:t>
            </a:r>
          </a:p>
          <a:p xmlns:a="http://schemas.openxmlformats.org/drawingml/2006/main">
            <a:pPr algn="l">
              <a:buNone/>
              <a:defRPr sz="16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JSON-RPC · HTTP · stdio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79675C6-8E6A-4349-A3E0-2810AAABB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95800"/>
            <a:ext cx="857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D79840C-20F1-42EB-A6E1-24EE213D5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053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구현 결과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73B9DA4-ABB8-488B-97AB-A53D712C2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67300"/>
            <a:ext cx="8001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48개 REST 스키마 라우트와 48개 MCP 도구가 함수·스키마·응답 계약을 함께 쓴다.</a:t>
            </a:r>
          </a:p>
        </p:txBody>
      </p:sp>
    </p:spTree>
    <p:extLst>
      <p:ext uri="{BB962C8B-B14F-4D97-AF65-F5344CB8AC3E}">
        <p14:creationId xmlns:p14="http://schemas.microsoft.com/office/powerpoint/2010/main" val="203550113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074941D-9D09-4E42-823E-6CC68086C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FEATURE 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F6ECCF-D12A-4D22-9E11-F518EF38D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277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35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35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기능은 기업 분석과 퀀트 연구로 나뉜다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8126A8-6F4C-4A33-B832-2501AC6AB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906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A70329-7C54-42C9-AF89-99EFE5AEF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ARCANA · REPOSITORY SNAPSHOT </a:t>
            </a:r>
            <a:r>
              <a:rPr sz="825" b="1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2026-08-16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3B96FB-F320-459D-8CCA-D2F957292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CB71F0-6627-4C21-B0C9-2A9241AF1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669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882275-0102-44A4-AEA9-3A8BCD605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809750"/>
            <a:ext cx="428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기업 기본 분석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3BDAAF-BB7B-4BEF-931A-6572486AE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05050"/>
            <a:ext cx="5105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603D13-D75A-4A1F-A6B4-225C6D63C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533650"/>
            <a:ext cx="4286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종목 소개 · 차트 · 섹터/산업군</a:t>
            </a:r>
          </a:p>
          <a:p xmlns:a="http://schemas.openxmlformats.org/drawingml/2006/main">
            <a:pPr algn="l">
              <a:buNone/>
              <a:def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재무제표 · 계정 상세 · 재무비율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8A8A02-3A0E-4807-9845-82556BBCB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8669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2A0BEC-BE93-43B5-BB67-A627E95FC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809750"/>
            <a:ext cx="428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영업 모델과 추정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EF2944-5F20-4B13-A1D3-5AEC49DA5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305050"/>
            <a:ext cx="5105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8809CB-AD29-4CEC-951B-EDB68F813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533650"/>
            <a:ext cx="4286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사업보고서 운영지표 · 단위경제성</a:t>
            </a:r>
          </a:p>
          <a:p xmlns:a="http://schemas.openxmlformats.org/drawingml/2006/main">
            <a:pPr algn="l">
              <a:buNone/>
              <a:def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드라이버 · 유사 컨센서스 · 실제 리포트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7D73D2-A389-422F-A4B7-1DA73E2F6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814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601082-BBF3-45B4-90C7-C3130AF85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924300"/>
            <a:ext cx="428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팩터 연구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945506-71FC-4CC0-8DAD-25CD41101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19600"/>
            <a:ext cx="5105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2DED84-1408-48F9-A95C-6D1743DE6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648200"/>
            <a:ext cx="4286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248개 팩터 카탈로그 · 조건 스크리닝</a:t>
            </a:r>
          </a:p>
          <a:p xmlns:a="http://schemas.openxmlformats.org/drawingml/2006/main">
            <a:pPr algn="l">
              <a:buNone/>
              <a:def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전략 저장 · 스타일 점수 · 섹터 리더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32830F-D449-4F45-AD3E-A8B76DBEF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9814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3080C6-9BE0-452D-9360-BAE846D69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924300"/>
            <a:ext cx="428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실험과 가치평가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0B9640-C1BF-496A-82FF-F73673FE8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419600"/>
            <a:ext cx="5105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034BF1A-D90E-4A10-860E-C8802B222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648200"/>
            <a:ext cx="4286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Factor Lab 그래프 · 노드 미리보기</a:t>
            </a:r>
          </a:p>
          <a:p xmlns:a="http://schemas.openxmlformats.org/drawingml/2006/main">
            <a:pPr algn="l">
              <a:buNone/>
              <a:def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백테스트 · 멀티플 밴드 · RIM/WACC</a:t>
            </a:r>
          </a:p>
        </p:txBody>
      </p:sp>
    </p:spTree>
    <p:extLst>
      <p:ext uri="{BB962C8B-B14F-4D97-AF65-F5344CB8AC3E}">
        <p14:creationId xmlns:p14="http://schemas.microsoft.com/office/powerpoint/2010/main" val="608947167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E9CB98-CBBC-46A7-8F44-87D8FD37F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FACTOR PLATFORM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526D79-D40B-412B-96BC-F843C5257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277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35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35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팩터 계산·시점 보존·결과 해석을 분리한다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F25FB2-2AC2-4FA8-861E-F84AFA651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906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B5C560-1BA1-41E8-9054-F3578034D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ARCANA · REPOSITORY SNAPSHOT </a:t>
            </a:r>
            <a:r>
              <a:rPr sz="825" b="1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2026-08-16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FFD4A0-930B-463F-B548-A94D7DA75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21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861171-68F4-4A7C-B06E-943F141A8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62150"/>
            <a:ext cx="3352800" cy="230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456280-3213-456F-A219-AA9D2F6E8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285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248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CEC744-406A-4172-B9F9-5A9CD953A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카탈로그 생성 정의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A5A35E-62D7-4DD7-BCA7-05B79E584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285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성장 50 · 금액 37 · 품질 30 · 리스크 29 등 14개 그룹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EAD916-267D-46CE-8AB9-46486C67A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962150"/>
            <a:ext cx="3352800" cy="230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185CEA-35C7-4C5D-947A-BBDAFD09D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190750"/>
            <a:ext cx="285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51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098E84-18F6-4C4F-94D7-AF6BB0030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0480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스타일 입력 정의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673A2E-6B2E-4DD2-B947-A573F4E22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524250"/>
            <a:ext cx="285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Value · Quality · Growth · Consensus · Momentum · Risk · Dividend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F727EB-2402-40C6-831E-63110F6BD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962150"/>
            <a:ext cx="3352800" cy="230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7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E76978-7769-48AC-8825-1DE6CB005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190750"/>
            <a:ext cx="285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PIT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90AAB3-0E31-4B64-9F83-A78C7CEC4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0480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시점 보존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AB230F-7E1E-45F9-B338-E2A197F56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524250"/>
            <a:ext cx="285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raw factor와 일별 snapshot을 분리해 과거 시그널을 재현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11FBC6-2A28-42D1-A822-3C6F9D6AC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863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계산 계층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EDECD8-C023-4CB3-8B58-977265842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648200"/>
            <a:ext cx="609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재무·가격·배당·컨센서스 → 비율·성장·모멘텀·WACC·RIM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7DF762-92DA-4248-A115-9F06A400D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197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서빙 계층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2A39B6-22B0-4EC5-8001-C92595E03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181600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factor_catalog → fact_daily_factors → fact_daily_factor_snapshot → screen / score / backtest</a:t>
            </a:r>
          </a:p>
        </p:txBody>
      </p:sp>
    </p:spTree>
    <p:extLst>
      <p:ext uri="{BB962C8B-B14F-4D97-AF65-F5344CB8AC3E}">
        <p14:creationId xmlns:p14="http://schemas.microsoft.com/office/powerpoint/2010/main" val="318528927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F97C59-E50F-44C7-9D5B-8E76E3234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CURRENT-STATE SYNTHESIS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E8075B-F64C-44A4-A653-1205563A5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19200"/>
            <a:ext cx="9810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43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43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Arcana를 이해하려면</a:t>
            </a:r>
          </a:p>
          <a:p xmlns:a="http://schemas.openxmlformats.org/drawingml/2006/main">
            <a:pPr algn="l">
              <a:buNone/>
              <a:defRPr sz="43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43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데이터 승격 경로부터 보면 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48CE58-CB70-479D-9DF6-6029AA82B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0182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AB4B19-718C-4544-8BA3-BB258CC02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433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4FDB22-EEED-447E-9EC9-2A3FDAF01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43350"/>
            <a:ext cx="2381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README.md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E7268F-5B72-42B8-9124-598FE7D57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2440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개요·Architecture·Quickstart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86E5C3-31A5-4444-B79E-2F20940F5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5433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27ACE4-2A39-49CF-AE40-6165264F5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943350"/>
            <a:ext cx="2381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engine.workflows.</a:t>
            </a:r>
          </a:p>
          <a:p xmlns:a="http://schemas.openxmlformats.org/drawingml/2006/main">
            <a:pPr algn="l">
              <a:buNone/>
              <a:defRPr sz="18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refresh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CB01EE-9C3A-4D8F-A235-58E16F393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72440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통합 갱신 진입점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492634-E2CB-444A-8367-628AA7D38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433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84B280-8E2E-418A-B9CF-F5C3DF400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943350"/>
            <a:ext cx="2381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api.main ·</a:t>
            </a:r>
          </a:p>
          <a:p xmlns:a="http://schemas.openxmlformats.org/drawingml/2006/main">
            <a:pPr algn="l">
              <a:buNone/>
              <a:defRPr sz="18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API_SPEC.md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DDAA5D-6E0F-4F34-9B39-1B5B744F0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72440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외부 계약과 기능 지도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C7002D-FC7B-4EEB-9DAB-BAEA7EDC7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5433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7A2177-BD1A-4FFE-888C-7C69D359B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943350"/>
            <a:ext cx="2381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tests/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24E771-2888-4C68-9E2C-ECCEED184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72440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변경할 때 지켜야 할 동작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E353F9-2CFA-4651-A8D6-D918FAAA2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81650"/>
            <a:ext cx="1085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새 기능은 Source → 정규화 규칙 → 적재 스키마 → Service/DTO → REST·MCP 계약 → 테스트 순으로 추적한다.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3E76BB-132C-4A7A-817B-538969266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98268721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2026-08-15T17:14:47.8000000Z</dcterms:created>
  <dcterms:modified xsi:type="dcterms:W3CDTF">2026-08-15T17:14:47.8000000Z</dcterms:modified>
</coreProperties>
</file>